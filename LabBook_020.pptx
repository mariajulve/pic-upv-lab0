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89" r:id="rId3"/>
    <p:sldId id="290" r:id="rId4"/>
    <p:sldId id="294" r:id="rId5"/>
    <p:sldId id="293" r:id="rId6"/>
    <p:sldId id="295" r:id="rId7"/>
    <p:sldId id="288" r:id="rId8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B70BE-D945-421A-8843-7BFE17E8B716}" v="1" dt="2026-02-03T12:25:46.74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26:13.728" v="13" actId="20577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26:13.728" v="13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26:13.728" v="13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24:53.171" v="0" actId="47"/>
        <pc:sldMkLst>
          <pc:docMk/>
          <pc:sldMk cId="3712356003" sldId="291"/>
        </pc:sldMkLst>
      </pc:sldChg>
      <pc:sldChg chg="modSp mod">
        <pc:chgData name="Christian Camilo Cano Vasquez" userId="8c73a2a4-758b-4e34-81ed-39462e48bd92" providerId="ADAL" clId="{E6287060-0277-4BCC-9556-78F4A9113EC4}" dt="2026-02-03T12:25:25.147" v="3" actId="115"/>
        <pc:sldMkLst>
          <pc:docMk/>
          <pc:sldMk cId="3660438245" sldId="293"/>
        </pc:sldMkLst>
        <pc:spChg chg="mod">
          <ac:chgData name="Christian Camilo Cano Vasquez" userId="8c73a2a4-758b-4e34-81ed-39462e48bd92" providerId="ADAL" clId="{E6287060-0277-4BCC-9556-78F4A9113EC4}" dt="2026-02-03T12:25:25.147" v="3" actId="115"/>
          <ac:spMkLst>
            <pc:docMk/>
            <pc:sldMk cId="3660438245" sldId="293"/>
            <ac:spMk id="4" creationId="{D838A93A-BFC8-0124-93CE-FDC193435A0C}"/>
          </ac:spMkLst>
        </pc:spChg>
        <pc:spChg chg="mod">
          <ac:chgData name="Christian Camilo Cano Vasquez" userId="8c73a2a4-758b-4e34-81ed-39462e48bd92" providerId="ADAL" clId="{E6287060-0277-4BCC-9556-78F4A9113EC4}" dt="2026-02-03T12:25:18.697" v="1" actId="20577"/>
          <ac:spMkLst>
            <pc:docMk/>
            <pc:sldMk cId="3660438245" sldId="293"/>
            <ac:spMk id="16" creationId="{742C31CE-19F0-B995-0997-9A2D6A879BF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9:54:18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0 158,'131'-3,"-1"-5,0-6,242-58,-278 52,1 5,97-5,240 14,-247 8,-130 1,0 3,0 1,103 29,-111-26,0-3,1-2,63-1,-36-1,66 10,-51-3,-4-1,156 9,625-19,-689-12,3-1,-109 16,95 13,-109-9,90-4,1 1,-56 9,-57-6,43 1,283-8,-192-23,-24 2,-36 11,133-9,-44 7,14 0,427 14,-601-3,52-9,18-1,409 9,-266 5,808-2,-1032-1,0-2,27-6,-23 3,33-1,406 4,-243 5,-177 3,-29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9:54:34.4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50,'187'-14,"293"42,-358-17,-5-7,223-22,-288 13,118-21,-117 15,1 3,67-2,231 20,-21 1,-325-11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9:54:37.9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36,'69'3,"102"18,48 4,273-24,-257-2,-157-2,83-15,-85 7,93 0,63 1,-9-1,-218 11,1-1,-1 0,0 0,0 0,0-1,6-3,-7 4,-1-1,1 1,-1-1,1 1,0 0,-1 1,1-1,0 1,0-1,-1 1,1 0,7 1,-7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4:54.0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0,'7437'0'0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9:54:57.8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30,'218'-15,"-2"1,-41 13,191 25,-109-3,-178-16,-26-4,0-2,56-9,-96 8,142-10,-93 7,107 5,-68 2,0-9,-72 4,0 1,0 1,36 4,13 0,-72-4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6T09:55:19.4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0,'7684'0'0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9:55:24.07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4,'210'-3,"150"3,70 26,-227-20,-128-6,109 12,-74 0,112-3,-151-8,330 6,-331-1,-56-4,0 0,1-1,-1-1,0 0,1 0,-1-2,23-4,-32 3,-1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6T09:55:26.23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1,'501'21,"-262"4,220 14,-300-41,-81-1,83 9,-76 5,-51-5,0-2,1-1,0-2,39-4,98-3,-29 3,-132 2,-1 0,0 1,0 1,1-1,-1 2,0-1,0 1,0 1,0 0,17 8,-22-9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0.2.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20.png"/><Relationship Id="rId18" Type="http://schemas.openxmlformats.org/officeDocument/2006/relationships/customXml" Target="../ink/ink8.xm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customXml" Target="../ink/ink5.xml"/><Relationship Id="rId17" Type="http://schemas.openxmlformats.org/officeDocument/2006/relationships/image" Target="../media/image22.png"/><Relationship Id="rId2" Type="http://schemas.openxmlformats.org/officeDocument/2006/relationships/image" Target="../media/image14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10" Type="http://schemas.openxmlformats.org/officeDocument/2006/relationships/customXml" Target="../ink/ink4.xml"/><Relationship Id="rId19" Type="http://schemas.openxmlformats.org/officeDocument/2006/relationships/image" Target="../media/image23.png"/><Relationship Id="rId4" Type="http://schemas.openxmlformats.org/officeDocument/2006/relationships/customXml" Target="../ink/ink1.xml"/><Relationship Id="rId9" Type="http://schemas.openxmlformats.org/officeDocument/2006/relationships/image" Target="../media/image18.png"/><Relationship Id="rId1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0.2.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020_COUPLERS_Student.ipynb </a:t>
            </a:r>
          </a:p>
          <a:p>
            <a:pPr algn="just"/>
            <a:endParaRPr lang="en-US" b="1" i="1" dirty="0"/>
          </a:p>
          <a:p>
            <a:pPr algn="just"/>
            <a:r>
              <a:rPr lang="en-US" b="1" i="1" dirty="0"/>
              <a:t>Cross-Sections </a:t>
            </a:r>
            <a:r>
              <a:rPr lang="en-US" i="1" dirty="0"/>
              <a:t>to be studied:</a:t>
            </a:r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Directional coupler cross-section in </a:t>
            </a:r>
            <a:r>
              <a:rPr lang="en-US" sz="2500" dirty="0" err="1"/>
              <a:t>GDSFactory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#1: </a:t>
                </a:r>
                <a:r>
                  <a:rPr lang="en-US" sz="2000" dirty="0"/>
                  <a:t>waveguide width 1.2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AA9E72FF-B948-6B7A-8909-97C6BE95D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of different modes, comparison between different polarizations…)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5709B7-BFDF-D2FF-D47D-D25FE8ED2719}"/>
              </a:ext>
            </a:extLst>
          </p:cNvPr>
          <p:cNvSpPr txBox="1"/>
          <p:nvPr/>
        </p:nvSpPr>
        <p:spPr>
          <a:xfrm>
            <a:off x="534989" y="3473730"/>
            <a:ext cx="115061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20um hay mas de 20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propagandose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sacar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numero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interactuan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entre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ellos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provocando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efecto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autoimagen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replicando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cierta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entrada. Para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sacar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distancia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parametron clave es la longitude de batido, para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ello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calculan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clasifican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se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</a:p>
          <a:p>
            <a:pPr marL="228600" indent="-228600" algn="just">
              <a:buAutoNum type="arabicPeriod"/>
            </a:pP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definer/similar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seccion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transversal</a:t>
            </a:r>
          </a:p>
          <a:p>
            <a:pPr marL="228600" indent="-228600" algn="just">
              <a:buAutoNum type="arabicPeriod"/>
            </a:pP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Calcular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algn="just">
              <a:buAutoNum type="arabicPeriod"/>
            </a:pP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Clasificar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polarizacion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 algn="just">
              <a:buAutoNum type="arabicPeriod"/>
            </a:pP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Lpi</a:t>
            </a:r>
            <a:endParaRPr lang="en-US" sz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249B9-C8E6-3DA9-A048-F972AA9F2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Comentarios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EBCB4F-5FC4-E118-011C-D4EC5DA4B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0" y="685800"/>
            <a:ext cx="4754899" cy="533400"/>
          </a:xfrm>
        </p:spPr>
        <p:txBody>
          <a:bodyPr/>
          <a:lstStyle/>
          <a:p>
            <a:r>
              <a:rPr lang="es-ES" sz="1400" dirty="0"/>
              <a:t>En este acoplador direccional se propagan 4 modos. Los modos 0 y 1 son </a:t>
            </a:r>
            <a:r>
              <a:rPr lang="es-ES" sz="1400" dirty="0" err="1"/>
              <a:t>quasi</a:t>
            </a:r>
            <a:r>
              <a:rPr lang="es-ES" sz="1400" dirty="0"/>
              <a:t> TE y los modos 2 y 3 son </a:t>
            </a:r>
            <a:r>
              <a:rPr lang="es-ES" sz="1400" dirty="0" err="1"/>
              <a:t>quasi</a:t>
            </a:r>
            <a:r>
              <a:rPr lang="es-ES" sz="1400" dirty="0"/>
              <a:t> TM.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336144-52DC-BDA9-B02D-858A6110F88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2E171D-AEFC-0C5A-9E9E-50D56858C5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8150B5A6-4637-12FA-075A-97026B32B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91" y="1295400"/>
            <a:ext cx="4704358" cy="2376681"/>
          </a:xfrm>
          <a:prstGeom prst="rect">
            <a:avLst/>
          </a:prstGeom>
        </p:spPr>
      </p:pic>
      <p:pic>
        <p:nvPicPr>
          <p:cNvPr id="11" name="Imagen 10" descr="Una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0E15A150-145C-2AA5-B124-A01A92BA4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449" y="1295400"/>
            <a:ext cx="3450897" cy="1166569"/>
          </a:xfrm>
          <a:prstGeom prst="rect">
            <a:avLst/>
          </a:prstGeom>
        </p:spPr>
      </p:pic>
      <p:pic>
        <p:nvPicPr>
          <p:cNvPr id="13" name="Imagen 1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A8C2911-C657-D316-571A-8445C888D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113" y="1351620"/>
            <a:ext cx="3262789" cy="1110349"/>
          </a:xfrm>
          <a:prstGeom prst="rect">
            <a:avLst/>
          </a:prstGeom>
        </p:spPr>
      </p:pic>
      <p:pic>
        <p:nvPicPr>
          <p:cNvPr id="15" name="Imagen 1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DAB32154-2285-85CE-0CE5-949137987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324" y="2587633"/>
            <a:ext cx="3577116" cy="1179105"/>
          </a:xfrm>
          <a:prstGeom prst="rect">
            <a:avLst/>
          </a:prstGeom>
        </p:spPr>
      </p:pic>
      <p:pic>
        <p:nvPicPr>
          <p:cNvPr id="17" name="Imagen 16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DEE44A1E-EFA1-07BF-9A0A-F085584B9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0543" y="2656389"/>
            <a:ext cx="3249469" cy="1110349"/>
          </a:xfrm>
          <a:prstGeom prst="rect">
            <a:avLst/>
          </a:prstGeom>
        </p:spPr>
      </p:pic>
      <p:pic>
        <p:nvPicPr>
          <p:cNvPr id="18" name="Imagen 17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30760F6D-CB3D-E980-9331-8A24616BD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4112" y="1414452"/>
            <a:ext cx="3262789" cy="1110349"/>
          </a:xfrm>
          <a:prstGeom prst="rect">
            <a:avLst/>
          </a:prstGeom>
        </p:spPr>
      </p:pic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51393840-F160-792C-906D-FFA12C2E9009}"/>
              </a:ext>
            </a:extLst>
          </p:cNvPr>
          <p:cNvSpPr txBox="1">
            <a:spLocks/>
          </p:cNvSpPr>
          <p:nvPr/>
        </p:nvSpPr>
        <p:spPr>
          <a:xfrm>
            <a:off x="5595946" y="551743"/>
            <a:ext cx="6400800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kern="0" dirty="0">
                <a:solidFill>
                  <a:sysClr val="windowText" lastClr="000000"/>
                </a:solidFill>
              </a:rPr>
              <a:t>En cuanto a los </a:t>
            </a:r>
            <a:r>
              <a:rPr lang="es-ES" sz="1400" kern="0" dirty="0" err="1">
                <a:solidFill>
                  <a:sysClr val="windowText" lastClr="000000"/>
                </a:solidFill>
              </a:rPr>
              <a:t>plots</a:t>
            </a:r>
            <a:r>
              <a:rPr lang="es-ES" sz="1400" kern="0" dirty="0">
                <a:solidFill>
                  <a:sysClr val="windowText" lastClr="000000"/>
                </a:solidFill>
              </a:rPr>
              <a:t>, a parte de identificar el tipo de polarización y corroborar así el calculo y deducción anterior. También se observa que los modos 1 (TE) y 3 (TM) son positivo y negativo. A diferencia de los modos 0 (TE) y 2 (TM) que son positivos.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A9C709C2-5647-865D-BD7E-362EAB367863}"/>
                  </a:ext>
                </a:extLst>
              </p:cNvPr>
              <p:cNvSpPr txBox="1"/>
              <p:nvPr/>
            </p:nvSpPr>
            <p:spPr>
              <a:xfrm>
                <a:off x="557893" y="3892402"/>
                <a:ext cx="1094130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400" dirty="0"/>
                  <a:t>Cuando calculamos la longitud de batido, que es la distancia </a:t>
                </a:r>
                <a:r>
                  <a:rPr lang="es-ES" sz="1400" dirty="0" err="1"/>
                  <a:t>minima</a:t>
                </a:r>
                <a:r>
                  <a:rPr lang="es-ES" sz="1400" dirty="0"/>
                  <a:t> para transferir la </a:t>
                </a:r>
                <a:r>
                  <a:rPr lang="es-ES" sz="1400" dirty="0" err="1"/>
                  <a:t>energia</a:t>
                </a:r>
                <a:r>
                  <a:rPr lang="es-ES" sz="1400" dirty="0"/>
                  <a:t> a la </a:t>
                </a:r>
                <a:r>
                  <a:rPr lang="es-ES" sz="1400" dirty="0" err="1"/>
                  <a:t>guia</a:t>
                </a:r>
                <a:r>
                  <a:rPr lang="es-ES" sz="1400" dirty="0"/>
                  <a:t> contraria, la cual depende del gap y de la diferencia de índices. Se observa que tenemos dependencia de la polarización del sistema ya que para los modos TE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1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s-ES" sz="1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  <m:r>
                      <a:rPr lang="es-ES" sz="11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 sz="1400" b="1"/>
                      <m:t>93.83767536700753</m:t>
                    </m:r>
                  </m:oMath>
                </a14:m>
                <a:r>
                  <a:rPr lang="es-ES" sz="1400" dirty="0"/>
                  <a:t> </a:t>
                </a:r>
                <a:r>
                  <a:rPr lang="es-ES" sz="1400" b="1" dirty="0"/>
                  <a:t>nm</a:t>
                </a:r>
                <a:r>
                  <a:rPr lang="es-ES" sz="1400" dirty="0"/>
                  <a:t> y para los modos TM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s-ES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  <m:r>
                      <a:rPr lang="es-ES" sz="1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 sz="1400" b="1"/>
                      <m:t>52.26022367744142</m:t>
                    </m:r>
                    <m:r>
                      <m:rPr>
                        <m:nor/>
                      </m:rPr>
                      <a:rPr lang="es-ES" sz="1400" b="1" i="0" smtClean="0"/>
                      <m:t> </m:t>
                    </m:r>
                    <m:r>
                      <m:rPr>
                        <m:nor/>
                      </m:rPr>
                      <a:rPr lang="es-ES" sz="1400" b="1" i="0" smtClean="0"/>
                      <m:t>nm</m:t>
                    </m:r>
                    <m:r>
                      <m:rPr>
                        <m:nor/>
                      </m:rPr>
                      <a:rPr lang="es-ES" sz="1400" b="1" i="0" smtClean="0"/>
                      <m:t>.</m:t>
                    </m:r>
                  </m:oMath>
                </a14:m>
                <a:r>
                  <a:rPr lang="es-ES" sz="1400" dirty="0"/>
                  <a:t> Es decir, si se diseña un dispositivo para TE con su respectiva longitud pero erróneamente llevamos una </a:t>
                </a:r>
                <a:r>
                  <a:rPr lang="es-ES" sz="1400" dirty="0" err="1"/>
                  <a:t>polarizacion</a:t>
                </a:r>
                <a:r>
                  <a:rPr lang="es-ES" sz="1400" dirty="0"/>
                  <a:t> TM, el resultado no será el esperado.</a:t>
                </a:r>
              </a:p>
              <a:p>
                <a:r>
                  <a:rPr lang="es-ES" sz="1400" dirty="0"/>
                  <a:t>Es mejor hacer el calculo a mano porque GDS da por hecho que el modo 0 es TE y el 1 es TM es </a:t>
                </a:r>
                <a:r>
                  <a:rPr lang="es-ES" sz="1400" dirty="0" err="1"/>
                  <a:t>asi</a:t>
                </a:r>
                <a:r>
                  <a:rPr lang="es-ES" sz="1400" dirty="0"/>
                  <a:t> siempre y no es cierto</a:t>
                </a:r>
              </a:p>
              <a:p>
                <a:endParaRPr lang="es-ES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A9C709C2-5647-865D-BD7E-362EAB367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93" y="3892402"/>
                <a:ext cx="10941309" cy="1446550"/>
              </a:xfrm>
              <a:prstGeom prst="rect">
                <a:avLst/>
              </a:prstGeom>
              <a:blipFill>
                <a:blip r:embed="rId7"/>
                <a:stretch>
                  <a:fillRect l="-167" t="-84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88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Multimode Interference (MMI) Coupler cross-section</a:t>
            </a: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>
                  <a:defRPr>
                    <a:latin typeface="+mn-lt"/>
                    <a:ea typeface="+mn-ea"/>
                    <a:cs typeface="+mn-cs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/>
                  <a:t>INSTRUCTOR: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Present Python and </a:t>
                </a:r>
                <a:r>
                  <a:rPr lang="en-US" sz="2000" dirty="0" err="1"/>
                  <a:t>GDSFactory</a:t>
                </a:r>
                <a:r>
                  <a:rPr lang="en-US" sz="2000" dirty="0"/>
                  <a:t> implementation of DC cross-section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how to obtain the beating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Describe the outputs.</a:t>
                </a:r>
              </a:p>
              <a:p>
                <a:pPr marL="0" indent="0" algn="just">
                  <a:buNone/>
                </a:pPr>
                <a:r>
                  <a:rPr lang="en-US" sz="2000" b="1" dirty="0"/>
                  <a:t>ALL EXAMPLE #2: </a:t>
                </a:r>
                <a:r>
                  <a:rPr lang="en-US" sz="2000" dirty="0"/>
                  <a:t>waveguide width 12 µm, gap between waveguides 0.6 µm, deep </a:t>
                </a:r>
                <a:r>
                  <a:rPr lang="en-US" sz="2000" dirty="0" err="1"/>
                  <a:t>wvg</a:t>
                </a:r>
                <a:r>
                  <a:rPr lang="en-US" sz="2000" dirty="0"/>
                  <a:t>, wavelength start and end same 1.55 µm </a:t>
                </a:r>
                <a:r>
                  <a:rPr lang="en-US" sz="2000" dirty="0">
                    <a:sym typeface="Wingdings" pitchFamily="2" charset="2"/>
                  </a:rPr>
                  <a:t> all ”Run”</a:t>
                </a: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b="1" dirty="0"/>
                  <a:t>ALL: </a:t>
                </a:r>
                <a:r>
                  <a:rPr lang="en-US" sz="2000" dirty="0"/>
                  <a:t>Follow</a:t>
                </a:r>
                <a:r>
                  <a:rPr lang="en-US" sz="2000" b="1" dirty="0"/>
                  <a:t> </a:t>
                </a:r>
                <a:r>
                  <a:rPr lang="en-US" sz="2000" dirty="0"/>
                  <a:t>instructor, that will show how to 1) plot mode, 2) explore the results (neff …)</a:t>
                </a:r>
              </a:p>
              <a:p>
                <a:pPr algn="just"/>
                <a:endParaRPr lang="en-US" sz="2000" b="1" i="1" u="sng" dirty="0"/>
              </a:p>
              <a:p>
                <a:pPr algn="just"/>
                <a:endParaRPr lang="en-US" sz="2000" kern="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Marcador de texto 2">
                <a:extLst>
                  <a:ext uri="{FF2B5EF4-FFF2-40B4-BE49-F238E27FC236}">
                    <a16:creationId xmlns:a16="http://schemas.microsoft.com/office/drawing/2014/main" id="{D838A93A-BFC8-0124-93CE-FDC193435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12" y="1295400"/>
                <a:ext cx="11048999" cy="4958137"/>
              </a:xfrm>
              <a:prstGeom prst="rect">
                <a:avLst/>
              </a:prstGeom>
              <a:blipFill>
                <a:blip r:embed="rId5"/>
                <a:stretch>
                  <a:fillRect l="-607" t="-738" r="-5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CAC2-58A6-EF7D-3CCE-35BF33ED5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B5A8B-ED5C-A16B-8892-0EEAFBF2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Comentarios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9842A-61AB-3A35-1C00-5F7AFB86C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50" y="685800"/>
            <a:ext cx="4754899" cy="646331"/>
          </a:xfrm>
        </p:spPr>
        <p:txBody>
          <a:bodyPr/>
          <a:lstStyle/>
          <a:p>
            <a:r>
              <a:rPr lang="es-ES" sz="1400" dirty="0"/>
              <a:t>En este MMI se propagan 15 modos. Los modos [0,1,2,3,4,5,6,7,8,13] son </a:t>
            </a:r>
            <a:r>
              <a:rPr lang="es-ES" sz="1400" dirty="0" err="1"/>
              <a:t>quasi</a:t>
            </a:r>
            <a:r>
              <a:rPr lang="es-ES" sz="1400" dirty="0"/>
              <a:t> TE. Y los modos [9,10,11,12,14] son </a:t>
            </a:r>
            <a:r>
              <a:rPr lang="es-ES" sz="1400" dirty="0" err="1"/>
              <a:t>quasi</a:t>
            </a:r>
            <a:r>
              <a:rPr lang="es-ES" sz="1400" dirty="0"/>
              <a:t> TM.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00E62D-7080-2108-8D39-38D8AA716E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0.2.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5CC875-3D67-AAEB-8038-4D2011CF92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21" name="Marcador de texto 2">
            <a:extLst>
              <a:ext uri="{FF2B5EF4-FFF2-40B4-BE49-F238E27FC236}">
                <a16:creationId xmlns:a16="http://schemas.microsoft.com/office/drawing/2014/main" id="{F8C88E75-503E-6767-1D21-DB325088A954}"/>
              </a:ext>
            </a:extLst>
          </p:cNvPr>
          <p:cNvSpPr txBox="1">
            <a:spLocks/>
          </p:cNvSpPr>
          <p:nvPr/>
        </p:nvSpPr>
        <p:spPr>
          <a:xfrm>
            <a:off x="5595946" y="551743"/>
            <a:ext cx="6400800" cy="1077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kern="0" dirty="0">
                <a:solidFill>
                  <a:sysClr val="windowText" lastClr="000000"/>
                </a:solidFill>
              </a:rPr>
              <a:t>En cuanto a los </a:t>
            </a:r>
            <a:r>
              <a:rPr lang="es-ES" sz="1400" kern="0" dirty="0" err="1">
                <a:solidFill>
                  <a:sysClr val="windowText" lastClr="000000"/>
                </a:solidFill>
              </a:rPr>
              <a:t>plots</a:t>
            </a:r>
            <a:r>
              <a:rPr lang="es-ES" sz="1400" kern="0" dirty="0">
                <a:solidFill>
                  <a:sysClr val="windowText" lastClr="000000"/>
                </a:solidFill>
              </a:rPr>
              <a:t>, a parte de identificar el tipo de polarización y corroborar así el calculo y deducción anterior. También se observa que los modos 1 (TE) y 3 (TM) son positivo y negativo. A diferencia de los modos 0 (TE) y 2 (TM) que son positivos.</a:t>
            </a:r>
          </a:p>
          <a:p>
            <a:endParaRPr lang="es-ES" sz="1400" kern="0" dirty="0">
              <a:solidFill>
                <a:sysClr val="windowText" lastClr="000000"/>
              </a:solidFill>
            </a:endParaRPr>
          </a:p>
          <a:p>
            <a:endParaRPr lang="es-ES" sz="1400" kern="0" dirty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7B00E25-B634-E827-0FDD-A9F95F3AB64C}"/>
                  </a:ext>
                </a:extLst>
              </p:cNvPr>
              <p:cNvSpPr txBox="1"/>
              <p:nvPr/>
            </p:nvSpPr>
            <p:spPr>
              <a:xfrm>
                <a:off x="457200" y="4543739"/>
                <a:ext cx="1094130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400" dirty="0"/>
                  <a:t>Cuando calculamos la longitud de batido, que es la distancia </a:t>
                </a:r>
                <a:r>
                  <a:rPr lang="es-ES" sz="1400" dirty="0" err="1"/>
                  <a:t>minima</a:t>
                </a:r>
                <a:r>
                  <a:rPr lang="es-ES" sz="1400" dirty="0"/>
                  <a:t> para transferir la </a:t>
                </a:r>
                <a:r>
                  <a:rPr lang="es-ES" sz="1400" dirty="0" err="1"/>
                  <a:t>energia</a:t>
                </a:r>
                <a:r>
                  <a:rPr lang="es-ES" sz="1400" dirty="0"/>
                  <a:t> a la </a:t>
                </a:r>
                <a:r>
                  <a:rPr lang="es-ES" sz="1400" dirty="0" err="1"/>
                  <a:t>guia</a:t>
                </a:r>
                <a:r>
                  <a:rPr lang="es-ES" sz="1400" dirty="0"/>
                  <a:t> contraria, la cual depende del gap y de la diferencia de índices. Se observa que tenemos dependencia de la polarización del sistema ya que para los modos TE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1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s-ES" sz="11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  <m:r>
                      <a:rPr lang="es-ES" sz="11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 sz="1400" b="1"/>
                      <m:t>93.83767536700753</m:t>
                    </m:r>
                  </m:oMath>
                </a14:m>
                <a:r>
                  <a:rPr lang="es-ES" sz="1400" dirty="0"/>
                  <a:t> </a:t>
                </a:r>
                <a:r>
                  <a:rPr lang="es-ES" sz="1400" b="1" dirty="0"/>
                  <a:t>nm</a:t>
                </a:r>
                <a:r>
                  <a:rPr lang="es-ES" sz="1400" dirty="0"/>
                  <a:t> y para los modos TM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0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s-ES" sz="1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sub>
                    </m:sSub>
                    <m:r>
                      <a:rPr lang="es-ES" sz="1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 sz="1400" b="1"/>
                      <m:t>52.26022367744142</m:t>
                    </m:r>
                    <m:r>
                      <m:rPr>
                        <m:nor/>
                      </m:rPr>
                      <a:rPr lang="es-ES" sz="1400" b="1" i="0" smtClean="0"/>
                      <m:t> </m:t>
                    </m:r>
                    <m:r>
                      <m:rPr>
                        <m:nor/>
                      </m:rPr>
                      <a:rPr lang="es-ES" sz="1400" b="1" i="0" smtClean="0"/>
                      <m:t>nm</m:t>
                    </m:r>
                    <m:r>
                      <m:rPr>
                        <m:nor/>
                      </m:rPr>
                      <a:rPr lang="es-ES" sz="1400" b="1" i="0" smtClean="0"/>
                      <m:t>.</m:t>
                    </m:r>
                  </m:oMath>
                </a14:m>
                <a:r>
                  <a:rPr lang="es-ES" sz="1400" dirty="0"/>
                  <a:t> Es decir, si se diseña un dispositivo para TE con su respectiva longitud pero erróneamente llevamos una </a:t>
                </a:r>
                <a:r>
                  <a:rPr lang="es-ES" sz="1400" dirty="0" err="1"/>
                  <a:t>polarizacion</a:t>
                </a:r>
                <a:r>
                  <a:rPr lang="es-ES" sz="1400" dirty="0"/>
                  <a:t> TM, el resultado no será el esperado.</a:t>
                </a:r>
              </a:p>
              <a:p>
                <a:r>
                  <a:rPr lang="es-ES" sz="1400" dirty="0"/>
                  <a:t>Es mejor hacer el calculo a mano porque GDS da por hecho que el modo 0 es TE y el 1 es TM es </a:t>
                </a:r>
                <a:r>
                  <a:rPr lang="es-ES" sz="1400" dirty="0" err="1"/>
                  <a:t>asi</a:t>
                </a:r>
                <a:r>
                  <a:rPr lang="es-ES" sz="1400" dirty="0"/>
                  <a:t> siempre y no es cierto</a:t>
                </a:r>
              </a:p>
              <a:p>
                <a:endParaRPr lang="es-ES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17B00E25-B634-E827-0FDD-A9F95F3AB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543739"/>
                <a:ext cx="10941309" cy="1446550"/>
              </a:xfrm>
              <a:prstGeom prst="rect">
                <a:avLst/>
              </a:prstGeom>
              <a:blipFill>
                <a:blip r:embed="rId2"/>
                <a:stretch>
                  <a:fillRect l="-167" t="-4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E390FECF-6073-AD6D-601B-A0419EC01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631740"/>
            <a:ext cx="4318908" cy="25243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B79827AE-57B3-1B01-1112-4ED8D7F9022E}"/>
                  </a:ext>
                </a:extLst>
              </p14:cNvPr>
              <p14:cNvContentPartPr/>
              <p14:nvPr/>
            </p14:nvContentPartPr>
            <p14:xfrm>
              <a:off x="1184973" y="2173070"/>
              <a:ext cx="3647520" cy="572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B79827AE-57B3-1B01-1112-4ED8D7F902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30973" y="2065070"/>
                <a:ext cx="375516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9D4BA834-3D4A-40E1-5340-C43FF030CB3F}"/>
                  </a:ext>
                </a:extLst>
              </p14:cNvPr>
              <p14:cNvContentPartPr/>
              <p14:nvPr/>
            </p14:nvContentPartPr>
            <p14:xfrm>
              <a:off x="1127580" y="2486340"/>
              <a:ext cx="858960" cy="2844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9D4BA834-3D4A-40E1-5340-C43FF030CB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73580" y="2378700"/>
                <a:ext cx="9666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00A9D6AA-FBE0-B8A7-9C2D-1DD1228910FD}"/>
                  </a:ext>
                </a:extLst>
              </p14:cNvPr>
              <p14:cNvContentPartPr/>
              <p14:nvPr/>
            </p14:nvContentPartPr>
            <p14:xfrm>
              <a:off x="2085180" y="2687220"/>
              <a:ext cx="801720" cy="3132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00A9D6AA-FBE0-B8A7-9C2D-1DD1228910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31180" y="2579220"/>
                <a:ext cx="9093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005CD1C6-5B91-FD11-6A6C-7EB5FE62658F}"/>
                  </a:ext>
                </a:extLst>
              </p14:cNvPr>
              <p14:cNvContentPartPr/>
              <p14:nvPr/>
            </p14:nvContentPartPr>
            <p14:xfrm>
              <a:off x="2074740" y="2361780"/>
              <a:ext cx="2677680" cy="72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005CD1C6-5B91-FD11-6A6C-7EB5FE62658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21100" y="2145780"/>
                <a:ext cx="27853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6636CF1A-A802-2E93-8E79-A04AEE05E725}"/>
                  </a:ext>
                </a:extLst>
              </p14:cNvPr>
              <p14:cNvContentPartPr/>
              <p14:nvPr/>
            </p14:nvContentPartPr>
            <p14:xfrm>
              <a:off x="1142700" y="2326140"/>
              <a:ext cx="851040" cy="1872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6636CF1A-A802-2E93-8E79-A04AEE05E72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9060" y="2218140"/>
                <a:ext cx="9586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36588DB4-A42E-2584-EDE6-C2165D692BE6}"/>
                  </a:ext>
                </a:extLst>
              </p14:cNvPr>
              <p14:cNvContentPartPr/>
              <p14:nvPr/>
            </p14:nvContentPartPr>
            <p14:xfrm>
              <a:off x="2090120" y="3875800"/>
              <a:ext cx="2766600" cy="72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36588DB4-A42E-2584-EDE6-C2165D692B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54120" y="3731800"/>
                <a:ext cx="283824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AC968FD6-436E-2EF2-BBE9-FF3C73A1E012}"/>
                  </a:ext>
                </a:extLst>
              </p14:cNvPr>
              <p14:cNvContentPartPr/>
              <p14:nvPr/>
            </p14:nvContentPartPr>
            <p14:xfrm>
              <a:off x="1112360" y="4009360"/>
              <a:ext cx="893880" cy="3060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AC968FD6-436E-2EF2-BBE9-FF3C73A1E01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6360" y="3937720"/>
                <a:ext cx="96552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2926D18C-8140-0DCE-49F3-6D6EC9999CF7}"/>
                  </a:ext>
                </a:extLst>
              </p14:cNvPr>
              <p14:cNvContentPartPr/>
              <p14:nvPr/>
            </p14:nvContentPartPr>
            <p14:xfrm>
              <a:off x="3030080" y="4007920"/>
              <a:ext cx="843480" cy="4428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2926D18C-8140-0DCE-49F3-6D6EC9999CF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94080" y="3936280"/>
                <a:ext cx="915120" cy="1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3975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</TotalTime>
  <Words>826</Words>
  <Application>Microsoft Office PowerPoint</Application>
  <PresentationFormat>Panorámica</PresentationFormat>
  <Paragraphs>79</Paragraphs>
  <Slides>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Cambria Math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Directional coupler cross-section in GDSFactory </vt:lpstr>
      <vt:lpstr>Comentarios</vt:lpstr>
      <vt:lpstr>Learning outcome #2 – Multimode Interference (MMI) Coupler cross-section</vt:lpstr>
      <vt:lpstr>Comentarios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Maria Julve Benages</cp:lastModifiedBy>
  <cp:revision>9</cp:revision>
  <dcterms:created xsi:type="dcterms:W3CDTF">2025-01-27T02:46:57Z</dcterms:created>
  <dcterms:modified xsi:type="dcterms:W3CDTF">2026-02-16T09:59:07Z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