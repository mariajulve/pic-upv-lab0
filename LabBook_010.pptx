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89" r:id="rId6"/>
    <p:sldId id="290" r:id="rId7"/>
    <p:sldId id="292" r:id="rId8"/>
    <p:sldId id="291" r:id="rId9"/>
    <p:sldId id="293" r:id="rId10"/>
    <p:sldId id="288" r:id="rId11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3102A6-F98F-48C7-9AF4-68940EB5B3D9}" v="4" dt="2026-02-03T12:19:17.94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38" autoAdjust="0"/>
    <p:restoredTop sz="95033" autoAdjust="0"/>
  </p:normalViewPr>
  <p:slideViewPr>
    <p:cSldViewPr>
      <p:cViewPr varScale="1">
        <p:scale>
          <a:sx n="82" d="100"/>
          <a:sy n="82" d="100"/>
        </p:scale>
        <p:origin x="115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5711-C157-AA5E-1EA1-9F4C3F40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A117F6-F66D-FFD4-422F-EBD94B31F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B512FE-9F6C-4ABD-23FA-CA518B458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24E7A5-CBFC-658B-8E88-8AF8084D5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2961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0.1. MODESOLVER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0.1. MODESOLVER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0.1. MODESOLVER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0.1. MODESOLVER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ccanvas-upv/pic-upv-lab0.git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0.1. </a:t>
            </a:r>
            <a:r>
              <a:rPr lang="es-ES" sz="3200" b="1" dirty="0" err="1">
                <a:latin typeface="Lucida Sans"/>
                <a:cs typeface="Lucida Sans"/>
              </a:rPr>
              <a:t>ModeSolver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  <a:hlinkClick r:id="rId4"/>
              </a:rPr>
              <a:t>https://github.com/cccanvas-upv/pic-upv-lab0.git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010_MODESOLVER_Student.ipynb </a:t>
            </a:r>
          </a:p>
          <a:p>
            <a:pPr algn="just"/>
            <a:r>
              <a:rPr lang="en-US" b="1" kern="0" dirty="0">
                <a:solidFill>
                  <a:sysClr val="windowText" lastClr="000000"/>
                </a:solidFill>
              </a:rPr>
              <a:t>INSTRUCTIONS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We are going to work with different </a:t>
            </a:r>
            <a:r>
              <a:rPr lang="en-US" b="1" i="1" dirty="0"/>
              <a:t>Cross-Sections. </a:t>
            </a:r>
            <a:r>
              <a:rPr lang="en-US" dirty="0"/>
              <a:t>In general, we will need: </a:t>
            </a:r>
            <a:r>
              <a:rPr lang="en-US" b="1" i="1" dirty="0"/>
              <a:t>Materials</a:t>
            </a:r>
            <a:r>
              <a:rPr lang="en-US" dirty="0"/>
              <a:t> definitions and the </a:t>
            </a:r>
            <a:r>
              <a:rPr lang="en-US" b="1" dirty="0"/>
              <a:t>Geometrical</a:t>
            </a:r>
            <a:r>
              <a:rPr lang="en-US" dirty="0"/>
              <a:t> parameters of each Cross-section</a:t>
            </a:r>
            <a:r>
              <a:rPr lang="en-US" b="1" i="1" dirty="0"/>
              <a:t>.</a:t>
            </a:r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B99085AB-5BCA-5571-FA65-E3617707DBFA}"/>
              </a:ext>
            </a:extLst>
          </p:cNvPr>
          <p:cNvSpPr/>
          <p:nvPr/>
        </p:nvSpPr>
        <p:spPr>
          <a:xfrm>
            <a:off x="1245115" y="4499713"/>
            <a:ext cx="544195" cy="344805"/>
          </a:xfrm>
          <a:custGeom>
            <a:avLst/>
            <a:gdLst/>
            <a:ahLst/>
            <a:cxnLst/>
            <a:rect l="l" t="t" r="r" b="b"/>
            <a:pathLst>
              <a:path w="544195" h="344805">
                <a:moveTo>
                  <a:pt x="0" y="344424"/>
                </a:moveTo>
                <a:lnTo>
                  <a:pt x="544067" y="344424"/>
                </a:lnTo>
                <a:lnTo>
                  <a:pt x="544067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17590B25-6ABE-9620-2C63-B4856DDBCE5D}"/>
              </a:ext>
            </a:extLst>
          </p:cNvPr>
          <p:cNvSpPr/>
          <p:nvPr/>
        </p:nvSpPr>
        <p:spPr>
          <a:xfrm>
            <a:off x="1245115" y="4499713"/>
            <a:ext cx="544195" cy="344805"/>
          </a:xfrm>
          <a:custGeom>
            <a:avLst/>
            <a:gdLst/>
            <a:ahLst/>
            <a:cxnLst/>
            <a:rect l="l" t="t" r="r" b="b"/>
            <a:pathLst>
              <a:path w="544195" h="344805">
                <a:moveTo>
                  <a:pt x="0" y="344424"/>
                </a:moveTo>
                <a:lnTo>
                  <a:pt x="544067" y="344424"/>
                </a:lnTo>
                <a:lnTo>
                  <a:pt x="544067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ln w="12191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9">
            <a:extLst>
              <a:ext uri="{FF2B5EF4-FFF2-40B4-BE49-F238E27FC236}">
                <a16:creationId xmlns:a16="http://schemas.microsoft.com/office/drawing/2014/main" id="{854026DA-C7BC-391A-30F9-BF8D7187210E}"/>
              </a:ext>
            </a:extLst>
          </p:cNvPr>
          <p:cNvSpPr/>
          <p:nvPr/>
        </p:nvSpPr>
        <p:spPr>
          <a:xfrm>
            <a:off x="1245115" y="3905354"/>
            <a:ext cx="1323340" cy="594360"/>
          </a:xfrm>
          <a:custGeom>
            <a:avLst/>
            <a:gdLst/>
            <a:ahLst/>
            <a:cxnLst/>
            <a:rect l="l" t="t" r="r" b="b"/>
            <a:pathLst>
              <a:path w="1323340" h="594360">
                <a:moveTo>
                  <a:pt x="1322832" y="0"/>
                </a:moveTo>
                <a:lnTo>
                  <a:pt x="769493" y="0"/>
                </a:lnTo>
                <a:lnTo>
                  <a:pt x="0" y="594359"/>
                </a:lnTo>
                <a:lnTo>
                  <a:pt x="553338" y="594359"/>
                </a:lnTo>
                <a:lnTo>
                  <a:pt x="1322832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10">
            <a:extLst>
              <a:ext uri="{FF2B5EF4-FFF2-40B4-BE49-F238E27FC236}">
                <a16:creationId xmlns:a16="http://schemas.microsoft.com/office/drawing/2014/main" id="{68F18FA1-D512-5553-8E16-C81F17B1FD4E}"/>
              </a:ext>
            </a:extLst>
          </p:cNvPr>
          <p:cNvSpPr/>
          <p:nvPr/>
        </p:nvSpPr>
        <p:spPr>
          <a:xfrm>
            <a:off x="1245115" y="3905354"/>
            <a:ext cx="1323340" cy="594360"/>
          </a:xfrm>
          <a:custGeom>
            <a:avLst/>
            <a:gdLst/>
            <a:ahLst/>
            <a:cxnLst/>
            <a:rect l="l" t="t" r="r" b="b"/>
            <a:pathLst>
              <a:path w="1323340" h="594360">
                <a:moveTo>
                  <a:pt x="0" y="594359"/>
                </a:moveTo>
                <a:lnTo>
                  <a:pt x="769493" y="0"/>
                </a:lnTo>
                <a:lnTo>
                  <a:pt x="1322832" y="0"/>
                </a:lnTo>
                <a:lnTo>
                  <a:pt x="553338" y="594359"/>
                </a:lnTo>
                <a:lnTo>
                  <a:pt x="0" y="594359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11">
            <a:extLst>
              <a:ext uri="{FF2B5EF4-FFF2-40B4-BE49-F238E27FC236}">
                <a16:creationId xmlns:a16="http://schemas.microsoft.com/office/drawing/2014/main" id="{B6F403B3-198D-766C-7FF5-06096D396DAF}"/>
              </a:ext>
            </a:extLst>
          </p:cNvPr>
          <p:cNvSpPr/>
          <p:nvPr/>
        </p:nvSpPr>
        <p:spPr>
          <a:xfrm>
            <a:off x="1789183" y="3905354"/>
            <a:ext cx="779145" cy="939165"/>
          </a:xfrm>
          <a:custGeom>
            <a:avLst/>
            <a:gdLst/>
            <a:ahLst/>
            <a:cxnLst/>
            <a:rect l="l" t="t" r="r" b="b"/>
            <a:pathLst>
              <a:path w="779145" h="939164">
                <a:moveTo>
                  <a:pt x="778763" y="0"/>
                </a:moveTo>
                <a:lnTo>
                  <a:pt x="0" y="593343"/>
                </a:lnTo>
                <a:lnTo>
                  <a:pt x="0" y="938783"/>
                </a:lnTo>
                <a:lnTo>
                  <a:pt x="778763" y="345439"/>
                </a:lnTo>
                <a:lnTo>
                  <a:pt x="778763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12">
            <a:extLst>
              <a:ext uri="{FF2B5EF4-FFF2-40B4-BE49-F238E27FC236}">
                <a16:creationId xmlns:a16="http://schemas.microsoft.com/office/drawing/2014/main" id="{B4F33324-81A2-6D30-47DD-7A67FD038073}"/>
              </a:ext>
            </a:extLst>
          </p:cNvPr>
          <p:cNvSpPr/>
          <p:nvPr/>
        </p:nvSpPr>
        <p:spPr>
          <a:xfrm>
            <a:off x="1789183" y="3905354"/>
            <a:ext cx="779145" cy="939165"/>
          </a:xfrm>
          <a:custGeom>
            <a:avLst/>
            <a:gdLst/>
            <a:ahLst/>
            <a:cxnLst/>
            <a:rect l="l" t="t" r="r" b="b"/>
            <a:pathLst>
              <a:path w="779145" h="939164">
                <a:moveTo>
                  <a:pt x="778763" y="0"/>
                </a:moveTo>
                <a:lnTo>
                  <a:pt x="0" y="593343"/>
                </a:lnTo>
                <a:lnTo>
                  <a:pt x="0" y="938783"/>
                </a:lnTo>
                <a:lnTo>
                  <a:pt x="778763" y="345439"/>
                </a:lnTo>
                <a:lnTo>
                  <a:pt x="778763" y="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13">
            <a:extLst>
              <a:ext uri="{FF2B5EF4-FFF2-40B4-BE49-F238E27FC236}">
                <a16:creationId xmlns:a16="http://schemas.microsoft.com/office/drawing/2014/main" id="{E5CE242A-CD6F-B6AA-8CF8-3F65AA839201}"/>
              </a:ext>
            </a:extLst>
          </p:cNvPr>
          <p:cNvSpPr/>
          <p:nvPr/>
        </p:nvSpPr>
        <p:spPr>
          <a:xfrm>
            <a:off x="659898" y="4205582"/>
            <a:ext cx="1858010" cy="1065530"/>
          </a:xfrm>
          <a:custGeom>
            <a:avLst/>
            <a:gdLst/>
            <a:ahLst/>
            <a:cxnLst/>
            <a:rect l="l" t="t" r="r" b="b"/>
            <a:pathLst>
              <a:path w="1858009" h="1065530">
                <a:moveTo>
                  <a:pt x="0" y="1065276"/>
                </a:moveTo>
                <a:lnTo>
                  <a:pt x="1857755" y="1065276"/>
                </a:lnTo>
                <a:lnTo>
                  <a:pt x="1857755" y="0"/>
                </a:lnTo>
                <a:lnTo>
                  <a:pt x="0" y="0"/>
                </a:lnTo>
                <a:lnTo>
                  <a:pt x="0" y="1065276"/>
                </a:lnTo>
                <a:close/>
              </a:path>
            </a:pathLst>
          </a:custGeom>
          <a:solidFill>
            <a:srgbClr val="7E7E7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18">
            <a:extLst>
              <a:ext uri="{FF2B5EF4-FFF2-40B4-BE49-F238E27FC236}">
                <a16:creationId xmlns:a16="http://schemas.microsoft.com/office/drawing/2014/main" id="{E00C02E3-A945-AC3C-8DDF-4BF7E88C3196}"/>
              </a:ext>
            </a:extLst>
          </p:cNvPr>
          <p:cNvSpPr/>
          <p:nvPr/>
        </p:nvSpPr>
        <p:spPr>
          <a:xfrm>
            <a:off x="458730" y="5106266"/>
            <a:ext cx="544195" cy="342900"/>
          </a:xfrm>
          <a:custGeom>
            <a:avLst/>
            <a:gdLst/>
            <a:ahLst/>
            <a:cxnLst/>
            <a:rect l="l" t="t" r="r" b="b"/>
            <a:pathLst>
              <a:path w="544195" h="342900">
                <a:moveTo>
                  <a:pt x="0" y="342900"/>
                </a:moveTo>
                <a:lnTo>
                  <a:pt x="544068" y="342900"/>
                </a:lnTo>
                <a:lnTo>
                  <a:pt x="544068" y="0"/>
                </a:lnTo>
                <a:lnTo>
                  <a:pt x="0" y="0"/>
                </a:lnTo>
                <a:lnTo>
                  <a:pt x="0" y="34290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19">
            <a:extLst>
              <a:ext uri="{FF2B5EF4-FFF2-40B4-BE49-F238E27FC236}">
                <a16:creationId xmlns:a16="http://schemas.microsoft.com/office/drawing/2014/main" id="{0ED35790-2683-BB1F-331A-34862F355D64}"/>
              </a:ext>
            </a:extLst>
          </p:cNvPr>
          <p:cNvSpPr/>
          <p:nvPr/>
        </p:nvSpPr>
        <p:spPr>
          <a:xfrm>
            <a:off x="458730" y="5106266"/>
            <a:ext cx="544195" cy="342900"/>
          </a:xfrm>
          <a:custGeom>
            <a:avLst/>
            <a:gdLst/>
            <a:ahLst/>
            <a:cxnLst/>
            <a:rect l="l" t="t" r="r" b="b"/>
            <a:pathLst>
              <a:path w="544195" h="342900">
                <a:moveTo>
                  <a:pt x="0" y="342900"/>
                </a:moveTo>
                <a:lnTo>
                  <a:pt x="544068" y="342900"/>
                </a:lnTo>
                <a:lnTo>
                  <a:pt x="544068" y="0"/>
                </a:lnTo>
                <a:lnTo>
                  <a:pt x="0" y="0"/>
                </a:lnTo>
                <a:lnTo>
                  <a:pt x="0" y="34290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20">
            <a:extLst>
              <a:ext uri="{FF2B5EF4-FFF2-40B4-BE49-F238E27FC236}">
                <a16:creationId xmlns:a16="http://schemas.microsoft.com/office/drawing/2014/main" id="{C74C0B99-9868-5B85-03B4-95E6CF78D9A3}"/>
              </a:ext>
            </a:extLst>
          </p:cNvPr>
          <p:cNvSpPr/>
          <p:nvPr/>
        </p:nvSpPr>
        <p:spPr>
          <a:xfrm>
            <a:off x="458730" y="4511906"/>
            <a:ext cx="1324610" cy="594360"/>
          </a:xfrm>
          <a:custGeom>
            <a:avLst/>
            <a:gdLst/>
            <a:ahLst/>
            <a:cxnLst/>
            <a:rect l="l" t="t" r="r" b="b"/>
            <a:pathLst>
              <a:path w="1324610" h="594360">
                <a:moveTo>
                  <a:pt x="1324356" y="0"/>
                </a:moveTo>
                <a:lnTo>
                  <a:pt x="769493" y="0"/>
                </a:lnTo>
                <a:lnTo>
                  <a:pt x="0" y="594360"/>
                </a:lnTo>
                <a:lnTo>
                  <a:pt x="554863" y="594360"/>
                </a:lnTo>
                <a:lnTo>
                  <a:pt x="1324356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21">
            <a:extLst>
              <a:ext uri="{FF2B5EF4-FFF2-40B4-BE49-F238E27FC236}">
                <a16:creationId xmlns:a16="http://schemas.microsoft.com/office/drawing/2014/main" id="{0D0A668E-1248-C952-0D69-9AC115F5AEBD}"/>
              </a:ext>
            </a:extLst>
          </p:cNvPr>
          <p:cNvSpPr/>
          <p:nvPr/>
        </p:nvSpPr>
        <p:spPr>
          <a:xfrm>
            <a:off x="458730" y="4511906"/>
            <a:ext cx="1324610" cy="594360"/>
          </a:xfrm>
          <a:custGeom>
            <a:avLst/>
            <a:gdLst/>
            <a:ahLst/>
            <a:cxnLst/>
            <a:rect l="l" t="t" r="r" b="b"/>
            <a:pathLst>
              <a:path w="1324610" h="594360">
                <a:moveTo>
                  <a:pt x="0" y="594360"/>
                </a:moveTo>
                <a:lnTo>
                  <a:pt x="769493" y="0"/>
                </a:lnTo>
                <a:lnTo>
                  <a:pt x="1324356" y="0"/>
                </a:lnTo>
                <a:lnTo>
                  <a:pt x="554863" y="594360"/>
                </a:lnTo>
                <a:lnTo>
                  <a:pt x="0" y="59436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22">
            <a:extLst>
              <a:ext uri="{FF2B5EF4-FFF2-40B4-BE49-F238E27FC236}">
                <a16:creationId xmlns:a16="http://schemas.microsoft.com/office/drawing/2014/main" id="{9D87B857-066A-6AC9-C60A-5A69ADC38AAB}"/>
              </a:ext>
            </a:extLst>
          </p:cNvPr>
          <p:cNvSpPr/>
          <p:nvPr/>
        </p:nvSpPr>
        <p:spPr>
          <a:xfrm>
            <a:off x="1002798" y="4511906"/>
            <a:ext cx="780415" cy="937260"/>
          </a:xfrm>
          <a:custGeom>
            <a:avLst/>
            <a:gdLst/>
            <a:ahLst/>
            <a:cxnLst/>
            <a:rect l="l" t="t" r="r" b="b"/>
            <a:pathLst>
              <a:path w="780414" h="937260">
                <a:moveTo>
                  <a:pt x="780288" y="0"/>
                </a:moveTo>
                <a:lnTo>
                  <a:pt x="0" y="594613"/>
                </a:lnTo>
                <a:lnTo>
                  <a:pt x="0" y="937260"/>
                </a:lnTo>
                <a:lnTo>
                  <a:pt x="780288" y="342645"/>
                </a:lnTo>
                <a:lnTo>
                  <a:pt x="780288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23">
            <a:extLst>
              <a:ext uri="{FF2B5EF4-FFF2-40B4-BE49-F238E27FC236}">
                <a16:creationId xmlns:a16="http://schemas.microsoft.com/office/drawing/2014/main" id="{218D47D4-6432-730D-48B9-7A6C6E31E473}"/>
              </a:ext>
            </a:extLst>
          </p:cNvPr>
          <p:cNvSpPr/>
          <p:nvPr/>
        </p:nvSpPr>
        <p:spPr>
          <a:xfrm>
            <a:off x="1002798" y="4511906"/>
            <a:ext cx="780415" cy="937260"/>
          </a:xfrm>
          <a:custGeom>
            <a:avLst/>
            <a:gdLst/>
            <a:ahLst/>
            <a:cxnLst/>
            <a:rect l="l" t="t" r="r" b="b"/>
            <a:pathLst>
              <a:path w="780414" h="937260">
                <a:moveTo>
                  <a:pt x="780288" y="0"/>
                </a:moveTo>
                <a:lnTo>
                  <a:pt x="0" y="594613"/>
                </a:lnTo>
                <a:lnTo>
                  <a:pt x="0" y="937260"/>
                </a:lnTo>
                <a:lnTo>
                  <a:pt x="780288" y="342645"/>
                </a:lnTo>
                <a:lnTo>
                  <a:pt x="780288" y="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33">
            <a:extLst>
              <a:ext uri="{FF2B5EF4-FFF2-40B4-BE49-F238E27FC236}">
                <a16:creationId xmlns:a16="http://schemas.microsoft.com/office/drawing/2014/main" id="{1ADEEC13-CD1C-B10C-519D-C80EDB6B6995}"/>
              </a:ext>
            </a:extLst>
          </p:cNvPr>
          <p:cNvSpPr txBox="1"/>
          <p:nvPr/>
        </p:nvSpPr>
        <p:spPr>
          <a:xfrm>
            <a:off x="1438790" y="5254855"/>
            <a:ext cx="1066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XY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5" dirty="0">
                <a:latin typeface="Calibri"/>
                <a:cs typeface="Calibri"/>
              </a:rPr>
              <a:t>Cross-section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3213753" y="3715837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4058049" y="4276669"/>
            <a:ext cx="76200" cy="986155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3402119" y="4503822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  <a:endParaRPr sz="140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4295793" y="4066357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4815731" y="3825642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4295793" y="4276669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6294976" y="4631165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3" name="Flecha: a la derecha 102">
            <a:extLst>
              <a:ext uri="{FF2B5EF4-FFF2-40B4-BE49-F238E27FC236}">
                <a16:creationId xmlns:a16="http://schemas.microsoft.com/office/drawing/2014/main" id="{9104F8E7-45F4-CD32-78F2-E3303B105AF2}"/>
              </a:ext>
            </a:extLst>
          </p:cNvPr>
          <p:cNvSpPr/>
          <p:nvPr/>
        </p:nvSpPr>
        <p:spPr>
          <a:xfrm>
            <a:off x="2652837" y="4587205"/>
            <a:ext cx="390281" cy="177451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749273" y="3715837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8831313" y="4066357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9351251" y="3825642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8831313" y="4276669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10830496" y="4631165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0" name="object 73">
            <a:extLst>
              <a:ext uri="{FF2B5EF4-FFF2-40B4-BE49-F238E27FC236}">
                <a16:creationId xmlns:a16="http://schemas.microsoft.com/office/drawing/2014/main" id="{C699977C-9138-F9B9-E43D-0CCB01AEB75F}"/>
              </a:ext>
            </a:extLst>
          </p:cNvPr>
          <p:cNvSpPr txBox="1"/>
          <p:nvPr/>
        </p:nvSpPr>
        <p:spPr>
          <a:xfrm>
            <a:off x="7749273" y="4983731"/>
            <a:ext cx="39061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lang="es-ES" sz="2350" dirty="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</a:pPr>
            <a:r>
              <a:rPr lang="es-ES" sz="1600" b="1" spc="-10" dirty="0" err="1">
                <a:latin typeface="Calibri"/>
                <a:cs typeface="Calibri"/>
              </a:rPr>
              <a:t>Slab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2" name="object 62">
            <a:extLst>
              <a:ext uri="{FF2B5EF4-FFF2-40B4-BE49-F238E27FC236}">
                <a16:creationId xmlns:a16="http://schemas.microsoft.com/office/drawing/2014/main" id="{04561701-4B4F-F208-98F6-2DAB5C1138D3}"/>
              </a:ext>
            </a:extLst>
          </p:cNvPr>
          <p:cNvSpPr/>
          <p:nvPr/>
        </p:nvSpPr>
        <p:spPr>
          <a:xfrm>
            <a:off x="8933783" y="4287133"/>
            <a:ext cx="56259" cy="694989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62">
            <a:extLst>
              <a:ext uri="{FF2B5EF4-FFF2-40B4-BE49-F238E27FC236}">
                <a16:creationId xmlns:a16="http://schemas.microsoft.com/office/drawing/2014/main" id="{CCA3B0D6-0C9E-B4A6-FA43-1AB5F1821674}"/>
              </a:ext>
            </a:extLst>
          </p:cNvPr>
          <p:cNvSpPr/>
          <p:nvPr/>
        </p:nvSpPr>
        <p:spPr>
          <a:xfrm>
            <a:off x="8591080" y="4982122"/>
            <a:ext cx="55008" cy="613272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63">
            <a:extLst>
              <a:ext uri="{FF2B5EF4-FFF2-40B4-BE49-F238E27FC236}">
                <a16:creationId xmlns:a16="http://schemas.microsoft.com/office/drawing/2014/main" id="{6394166D-0522-24AD-E666-39FE8A3FDC24}"/>
              </a:ext>
            </a:extLst>
          </p:cNvPr>
          <p:cNvSpPr txBox="1"/>
          <p:nvPr/>
        </p:nvSpPr>
        <p:spPr>
          <a:xfrm>
            <a:off x="8709867" y="5180039"/>
            <a:ext cx="674053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dirty="0" err="1">
                <a:latin typeface="Calibri"/>
                <a:cs typeface="Calibri"/>
              </a:rPr>
              <a:t>h_slab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2" name="object 63">
            <a:extLst>
              <a:ext uri="{FF2B5EF4-FFF2-40B4-BE49-F238E27FC236}">
                <a16:creationId xmlns:a16="http://schemas.microsoft.com/office/drawing/2014/main" id="{B589EB7D-B26E-4239-A5C2-F96DBBE82162}"/>
              </a:ext>
            </a:extLst>
          </p:cNvPr>
          <p:cNvSpPr txBox="1"/>
          <p:nvPr/>
        </p:nvSpPr>
        <p:spPr>
          <a:xfrm>
            <a:off x="9064251" y="4282997"/>
            <a:ext cx="138017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spc="-10" dirty="0" err="1">
                <a:latin typeface="Calibri"/>
                <a:cs typeface="Calibri"/>
              </a:rPr>
              <a:t>h_core</a:t>
            </a:r>
            <a:r>
              <a:rPr lang="es-ES" sz="1400" spc="-10" dirty="0">
                <a:latin typeface="Calibri"/>
                <a:cs typeface="Calibri"/>
              </a:rPr>
              <a:t> 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9664364" y="5549983"/>
            <a:ext cx="198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5280887" y="5549983"/>
            <a:ext cx="215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CAD427B-6097-910F-3ED4-DE28E90E11E0}"/>
              </a:ext>
            </a:extLst>
          </p:cNvPr>
          <p:cNvSpPr txBox="1"/>
          <p:nvPr/>
        </p:nvSpPr>
        <p:spPr>
          <a:xfrm>
            <a:off x="7901955" y="400263"/>
            <a:ext cx="410433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FF0000"/>
                </a:solidFill>
              </a:rPr>
              <a:t>El índice efectivo es el índice que siente el modo al propagarse por la guía. Si solo esta confiando en el </a:t>
            </a:r>
            <a:r>
              <a:rPr lang="es-ES" sz="1400" dirty="0" err="1">
                <a:solidFill>
                  <a:srgbClr val="FF0000"/>
                </a:solidFill>
              </a:rPr>
              <a:t>core</a:t>
            </a:r>
            <a:r>
              <a:rPr lang="es-ES" sz="1400" dirty="0">
                <a:solidFill>
                  <a:srgbClr val="FF0000"/>
                </a:solidFill>
              </a:rPr>
              <a:t> </a:t>
            </a:r>
            <a:r>
              <a:rPr lang="es-ES" sz="1400" dirty="0" err="1">
                <a:solidFill>
                  <a:srgbClr val="FF0000"/>
                </a:solidFill>
              </a:rPr>
              <a:t>tndra</a:t>
            </a:r>
            <a:r>
              <a:rPr lang="es-ES" sz="1400" dirty="0">
                <a:solidFill>
                  <a:srgbClr val="FF0000"/>
                </a:solidFill>
              </a:rPr>
              <a:t> en el </a:t>
            </a:r>
            <a:r>
              <a:rPr lang="es-ES" sz="1400" dirty="0" err="1">
                <a:solidFill>
                  <a:srgbClr val="FF0000"/>
                </a:solidFill>
              </a:rPr>
              <a:t>core</a:t>
            </a:r>
            <a:r>
              <a:rPr lang="es-ES" sz="1400" dirty="0">
                <a:solidFill>
                  <a:srgbClr val="FF0000"/>
                </a:solidFill>
              </a:rPr>
              <a:t> y si esta full en la cubierta será el índice del </a:t>
            </a:r>
            <a:r>
              <a:rPr lang="es-ES" sz="1400" dirty="0" err="1">
                <a:solidFill>
                  <a:srgbClr val="FF0000"/>
                </a:solidFill>
              </a:rPr>
              <a:t>cladding</a:t>
            </a:r>
            <a:r>
              <a:rPr lang="es-ES" sz="1400" dirty="0">
                <a:solidFill>
                  <a:srgbClr val="FF0000"/>
                </a:solidFill>
              </a:rPr>
              <a:t>, peri es esta entre los dos, existes un índice que englobe estos dos.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B94E6ED-8070-9B40-7058-DD03ED37BA0F}"/>
              </a:ext>
            </a:extLst>
          </p:cNvPr>
          <p:cNvSpPr txBox="1"/>
          <p:nvPr/>
        </p:nvSpPr>
        <p:spPr>
          <a:xfrm>
            <a:off x="7955726" y="1672334"/>
            <a:ext cx="40505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FF0000"/>
                </a:solidFill>
              </a:rPr>
              <a:t>Los índices que se calculen y sean menores que los del </a:t>
            </a:r>
            <a:r>
              <a:rPr lang="es-ES" sz="1400" dirty="0" err="1">
                <a:solidFill>
                  <a:srgbClr val="FF0000"/>
                </a:solidFill>
              </a:rPr>
              <a:t>cladding</a:t>
            </a:r>
            <a:r>
              <a:rPr lang="es-ES" sz="1400" dirty="0">
                <a:solidFill>
                  <a:srgbClr val="FF0000"/>
                </a:solidFill>
              </a:rPr>
              <a:t>, son modos que no se propagan</a:t>
            </a:r>
          </a:p>
        </p:txBody>
      </p: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Effective index of a waveguide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AA9E72FF-B948-6B7A-8909-97C6BE95D6FB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INSTRUCTOR: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Present Python and </a:t>
            </a:r>
            <a:r>
              <a:rPr lang="en-US" sz="2000" dirty="0" err="1"/>
              <a:t>GDSFactory</a:t>
            </a:r>
            <a:r>
              <a:rPr lang="en-US" sz="2000" dirty="0"/>
              <a:t>: materials, output, results.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Explain how to run a simulation for a particular cross-section.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Showcase how to change between shallow and deep waveguide.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how to change the wavelength and width for the waveguide analysis.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the outputs.</a:t>
            </a:r>
          </a:p>
          <a:p>
            <a:pPr marL="0" indent="0" algn="just">
              <a:buNone/>
            </a:pPr>
            <a:r>
              <a:rPr lang="en-US" sz="2000" b="1" dirty="0"/>
              <a:t>ALL EXAMPLE #1: </a:t>
            </a:r>
            <a:r>
              <a:rPr lang="en-US" sz="2000" dirty="0"/>
              <a:t>waveguide width 1.2 µm, deep </a:t>
            </a:r>
            <a:r>
              <a:rPr lang="en-US" sz="2000" dirty="0" err="1"/>
              <a:t>wvg</a:t>
            </a:r>
            <a:r>
              <a:rPr lang="en-US" sz="2000" dirty="0"/>
              <a:t>, wavelength start and end same 1.55 µm </a:t>
            </a:r>
            <a:r>
              <a:rPr lang="en-US" sz="2000" dirty="0">
                <a:sym typeface="Wingdings" pitchFamily="2" charset="2"/>
              </a:rPr>
              <a:t> all ”Run”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b="1" dirty="0"/>
              <a:t>ALL: </a:t>
            </a:r>
            <a:r>
              <a:rPr lang="en-US" sz="2000" dirty="0"/>
              <a:t>Follow</a:t>
            </a:r>
            <a:r>
              <a:rPr lang="en-US" sz="2000" b="1" dirty="0"/>
              <a:t> </a:t>
            </a:r>
            <a:r>
              <a:rPr lang="en-US" sz="2000" dirty="0"/>
              <a:t>instructor, that will show how to 1) plot mode, 2) explore the results (neff …)</a:t>
            </a:r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09441" y="4860334"/>
            <a:ext cx="11199971" cy="150810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(neff, plot fields of different modes, comparison between different polarizations…)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Tenemos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4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propagan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0 y 2 son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TE 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1 y 3 son TM.</a:t>
            </a:r>
          </a:p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observar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plots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campo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0 (TE) y 1 (TM)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estan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confinados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difernecia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2 (TE) y 3 (TM).</a:t>
            </a:r>
          </a:p>
          <a:p>
            <a:pPr algn="just"/>
            <a:endParaRPr lang="en-US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9E763E-BC09-F2D2-5B5F-BA40B7820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Comentario </a:t>
            </a:r>
            <a:r>
              <a:rPr lang="es-ES" dirty="0" err="1"/>
              <a:t>Outcome</a:t>
            </a:r>
            <a:r>
              <a:rPr lang="es-ES" dirty="0"/>
              <a:t> #1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D9BAE8-7464-7A8D-1505-101CD955D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3897" y="667952"/>
            <a:ext cx="3991341" cy="646331"/>
          </a:xfrm>
        </p:spPr>
        <p:txBody>
          <a:bodyPr/>
          <a:lstStyle/>
          <a:p>
            <a:pPr algn="just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Tenemos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4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propagan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0 y 2 son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TE 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1 y 3 son TM.</a:t>
            </a:r>
          </a:p>
          <a:p>
            <a:endParaRPr lang="es-ES" sz="140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050BDDD-47A2-CCA3-6DFC-17F74A4D852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0.1. MODESOLVER</a:t>
            </a:r>
            <a:endParaRPr lang="es-ES" spc="-5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00B7220-4CEE-6025-7B44-69AD7E721AE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pic>
        <p:nvPicPr>
          <p:cNvPr id="7" name="Imagen 6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D0052FFC-265F-BD00-A1F5-79369E296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87918"/>
            <a:ext cx="3448050" cy="1736563"/>
          </a:xfrm>
          <a:prstGeom prst="rect">
            <a:avLst/>
          </a:prstGeom>
        </p:spPr>
      </p:pic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AE70B213-9763-4DA9-8BF3-C01D20E65E05}"/>
              </a:ext>
            </a:extLst>
          </p:cNvPr>
          <p:cNvSpPr txBox="1">
            <a:spLocks/>
          </p:cNvSpPr>
          <p:nvPr/>
        </p:nvSpPr>
        <p:spPr>
          <a:xfrm>
            <a:off x="365124" y="2494020"/>
            <a:ext cx="11293476" cy="1292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observar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plots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campo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0 (TE) y 1 (TM)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estan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confinados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diferencia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2 (TE) y 3 (TM)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estan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confinados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1400" kern="0" dirty="0">
              <a:solidFill>
                <a:sysClr val="windowText" lastClr="000000"/>
              </a:solidFill>
            </a:endParaRPr>
          </a:p>
        </p:txBody>
      </p:sp>
      <p:pic>
        <p:nvPicPr>
          <p:cNvPr id="10" name="Imagen 9" descr="Histograma&#10;&#10;El contenido generado por IA puede ser incorrecto.">
            <a:extLst>
              <a:ext uri="{FF2B5EF4-FFF2-40B4-BE49-F238E27FC236}">
                <a16:creationId xmlns:a16="http://schemas.microsoft.com/office/drawing/2014/main" id="{B48F81A6-BE1C-E6C0-6D02-DBCAA7D1F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045258"/>
            <a:ext cx="2969652" cy="1736563"/>
          </a:xfrm>
          <a:prstGeom prst="rect">
            <a:avLst/>
          </a:prstGeom>
        </p:spPr>
      </p:pic>
      <p:pic>
        <p:nvPicPr>
          <p:cNvPr id="12" name="Imagen 11" descr="Gráfico&#10;&#10;El contenido generado por IA puede ser incorrecto.">
            <a:extLst>
              <a:ext uri="{FF2B5EF4-FFF2-40B4-BE49-F238E27FC236}">
                <a16:creationId xmlns:a16="http://schemas.microsoft.com/office/drawing/2014/main" id="{60E818AF-B43A-E6B8-9A93-97D8F70C9F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951" y="4869334"/>
            <a:ext cx="3019817" cy="1618215"/>
          </a:xfrm>
          <a:prstGeom prst="rect">
            <a:avLst/>
          </a:prstGeom>
        </p:spPr>
      </p:pic>
      <p:pic>
        <p:nvPicPr>
          <p:cNvPr id="14" name="Imagen 13" descr="Imagen que contiene Gráfico&#10;&#10;El contenido generado por IA puede ser incorrecto.">
            <a:extLst>
              <a:ext uri="{FF2B5EF4-FFF2-40B4-BE49-F238E27FC236}">
                <a16:creationId xmlns:a16="http://schemas.microsoft.com/office/drawing/2014/main" id="{E9C2C45D-E055-687E-57E6-23AC6E64AD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1278" y="3045258"/>
            <a:ext cx="2969652" cy="1598730"/>
          </a:xfrm>
          <a:prstGeom prst="rect">
            <a:avLst/>
          </a:prstGeom>
        </p:spPr>
      </p:pic>
      <p:pic>
        <p:nvPicPr>
          <p:cNvPr id="16" name="Imagen 15" descr="Imagen que contiene Gráfico&#10;&#10;El contenido generado por IA puede ser incorrecto.">
            <a:extLst>
              <a:ext uri="{FF2B5EF4-FFF2-40B4-BE49-F238E27FC236}">
                <a16:creationId xmlns:a16="http://schemas.microsoft.com/office/drawing/2014/main" id="{7F999343-8AEB-DF27-2556-89F7BEEFAD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4375" y="4869334"/>
            <a:ext cx="2856949" cy="1440379"/>
          </a:xfrm>
          <a:prstGeom prst="rect">
            <a:avLst/>
          </a:prstGeom>
        </p:spPr>
      </p:pic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3308301C-BA76-FDE3-F44A-FD5E5F5C2038}"/>
              </a:ext>
            </a:extLst>
          </p:cNvPr>
          <p:cNvSpPr txBox="1">
            <a:spLocks/>
          </p:cNvSpPr>
          <p:nvPr/>
        </p:nvSpPr>
        <p:spPr>
          <a:xfrm>
            <a:off x="371344" y="3293774"/>
            <a:ext cx="2743200" cy="1292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El modo 0 (TE) esta altamente confinado, presenta un único lóbulo central rojo intenso, indicando la máxima intensidad del campo electromagnético confinado.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B2C7A0D5-6A7F-6E15-C85C-65B392860C8E}"/>
              </a:ext>
            </a:extLst>
          </p:cNvPr>
          <p:cNvSpPr txBox="1">
            <a:spLocks/>
          </p:cNvSpPr>
          <p:nvPr/>
        </p:nvSpPr>
        <p:spPr>
          <a:xfrm>
            <a:off x="365124" y="4850673"/>
            <a:ext cx="2743200" cy="10772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Al igual que el modo 0, el modo 1 (TM) está fuertemente confinado en la estructura geométrica, mostrando un solo lóbulo principal en la distribución del campo.</a:t>
            </a: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97306283-14F4-EB15-CFE1-E2585363D3C0}"/>
              </a:ext>
            </a:extLst>
          </p:cNvPr>
          <p:cNvSpPr txBox="1">
            <a:spLocks/>
          </p:cNvSpPr>
          <p:nvPr/>
        </p:nvSpPr>
        <p:spPr>
          <a:xfrm>
            <a:off x="6304065" y="3293774"/>
            <a:ext cx="2969652" cy="15081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A diferencia del modo 0, este modo presenta dos lóbulos distintos (uno rojo y uno azul, indicando un cambio de fase) distribuidos horizontalmente. El campo electromagnético se extiende mucho más hacia el </a:t>
            </a:r>
            <a:r>
              <a:rPr lang="es-ES" sz="1400" dirty="0" err="1">
                <a:latin typeface="Arial" panose="020B0604020202020204" pitchFamily="34" charset="0"/>
                <a:cs typeface="Arial" panose="020B0604020202020204" pitchFamily="34" charset="0"/>
              </a:rPr>
              <a:t>cladding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4B6C1E31-23A5-E8EB-F42D-34774684EE5A}"/>
              </a:ext>
            </a:extLst>
          </p:cNvPr>
          <p:cNvSpPr txBox="1">
            <a:spLocks/>
          </p:cNvSpPr>
          <p:nvPr/>
        </p:nvSpPr>
        <p:spPr>
          <a:xfrm>
            <a:off x="6343395" y="4986765"/>
            <a:ext cx="2870980" cy="10772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Este modo está muy poco confinado en el núcleo, lo que sugiere que es el modo con el menor índice efectivo de los cuatro y el menos confinado</a:t>
            </a:r>
          </a:p>
        </p:txBody>
      </p:sp>
    </p:spTree>
    <p:extLst>
      <p:ext uri="{BB962C8B-B14F-4D97-AF65-F5344CB8AC3E}">
        <p14:creationId xmlns:p14="http://schemas.microsoft.com/office/powerpoint/2010/main" val="219364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656EC-E197-239C-60DD-C11F7BA4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431EA70-9578-8BF1-5A05-77CDC2678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Wavelength behavior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Wavelength 1.5-1.6 µm (step 0.02 µm) – width 1.2 µm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6A02C28-9CC3-6E88-B695-04A48E5FDE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B7F118F-AD79-0ED0-CE53-A8EE4409B4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846C9D-3FE3-8524-3349-96E1AD1712B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A5F0FDF-2A95-453B-4ECA-AEB637FF2694}"/>
              </a:ext>
            </a:extLst>
          </p:cNvPr>
          <p:cNvSpPr txBox="1"/>
          <p:nvPr/>
        </p:nvSpPr>
        <p:spPr>
          <a:xfrm>
            <a:off x="599916" y="4572390"/>
            <a:ext cx="11199971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 (neff changes this way with wavelength, comparison between different waveguide cross-sections …)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En ambas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gráficas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disminuye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aumenta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longitud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Esto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mayores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longitudes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aumenta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tamaño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modo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óptico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lo tanto,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pierde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confinamiento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núcleo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En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shallow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4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Ya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refracción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es superior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SiO2.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tiene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espacio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mayor y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mayor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orden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cambio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con la deep waveguide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2 y 3 no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menor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cladding.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8F19863-7091-B8CA-F848-DBEA5CEEA027}"/>
              </a:ext>
            </a:extLst>
          </p:cNvPr>
          <p:cNvSpPr/>
          <p:nvPr/>
        </p:nvSpPr>
        <p:spPr>
          <a:xfrm>
            <a:off x="609439" y="1202321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4E7A47-20E2-3C27-D841-5A665642F6E2}"/>
              </a:ext>
            </a:extLst>
          </p:cNvPr>
          <p:cNvSpPr txBox="1"/>
          <p:nvPr/>
        </p:nvSpPr>
        <p:spPr>
          <a:xfrm>
            <a:off x="2285455" y="2671278"/>
            <a:ext cx="19805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1F754A5-65BC-14A3-5F55-75716FFA9027}"/>
              </a:ext>
            </a:extLst>
          </p:cNvPr>
          <p:cNvSpPr/>
          <p:nvPr/>
        </p:nvSpPr>
        <p:spPr>
          <a:xfrm>
            <a:off x="6467316" y="1195084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D9C65D4-5494-F5CE-1094-CB0A32C33876}"/>
              </a:ext>
            </a:extLst>
          </p:cNvPr>
          <p:cNvSpPr txBox="1"/>
          <p:nvPr/>
        </p:nvSpPr>
        <p:spPr>
          <a:xfrm>
            <a:off x="8281672" y="2671278"/>
            <a:ext cx="17229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</p:txBody>
      </p:sp>
      <p:pic>
        <p:nvPicPr>
          <p:cNvPr id="4" name="Imagen 3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63260072-4336-C477-FDF6-3CF8F695AE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212" y="1227202"/>
            <a:ext cx="5251798" cy="3106353"/>
          </a:xfrm>
          <a:prstGeom prst="rect">
            <a:avLst/>
          </a:prstGeom>
        </p:spPr>
      </p:pic>
      <p:pic>
        <p:nvPicPr>
          <p:cNvPr id="10" name="Imagen 9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8D8790E9-D5FA-BF84-1C13-E0C9F45B3C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6282" y="1227202"/>
            <a:ext cx="5263605" cy="327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356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E64652-1DB7-E694-D36B-985DB6D75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Comentarios </a:t>
            </a:r>
            <a:r>
              <a:rPr lang="es-ES" dirty="0" err="1"/>
              <a:t>Outcome</a:t>
            </a:r>
            <a:r>
              <a:rPr lang="es-ES" dirty="0"/>
              <a:t> #2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70538A-68E4-F5CA-1BBB-7CD552AAD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0" y="685800"/>
            <a:ext cx="5200650" cy="646331"/>
          </a:xfrm>
        </p:spPr>
        <p:txBody>
          <a:bodyPr/>
          <a:lstStyle/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Con la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guia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shallow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0 y 3 son TE 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1 y 2 son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hibridos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mayoritariamente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TE.</a:t>
            </a:r>
          </a:p>
          <a:p>
            <a:endParaRPr lang="es-ES" sz="140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9A70AEF-A0E3-E117-BB88-746F97AD7C2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0.1. MODESOLVER</a:t>
            </a:r>
            <a:endParaRPr lang="es-ES" spc="-5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196C78E-166D-AE50-D427-CD26140F594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D5E8ED96-2A1A-07AC-B725-88D2612B8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1224396"/>
            <a:ext cx="5104614" cy="2562476"/>
          </a:xfrm>
          <a:prstGeom prst="rect">
            <a:avLst/>
          </a:prstGeom>
        </p:spPr>
      </p:pic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15A913E1-D1BA-3C75-C94A-64EE39100AAA}"/>
              </a:ext>
            </a:extLst>
          </p:cNvPr>
          <p:cNvSpPr txBox="1">
            <a:spLocks/>
          </p:cNvSpPr>
          <p:nvPr/>
        </p:nvSpPr>
        <p:spPr>
          <a:xfrm>
            <a:off x="6601756" y="693421"/>
            <a:ext cx="520065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Con la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guia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deep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0 y 2 son TE 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1 y 3 son TM.</a:t>
            </a:r>
            <a:endParaRPr lang="es-ES" sz="1400" kern="0" dirty="0">
              <a:solidFill>
                <a:sysClr val="windowText" lastClr="000000"/>
              </a:solidFill>
            </a:endParaRPr>
          </a:p>
        </p:txBody>
      </p:sp>
      <p:pic>
        <p:nvPicPr>
          <p:cNvPr id="10" name="Imagen 9" descr="Texto&#10;&#10;El contenido generado por IA puede ser incorrecto.">
            <a:extLst>
              <a:ext uri="{FF2B5EF4-FFF2-40B4-BE49-F238E27FC236}">
                <a16:creationId xmlns:a16="http://schemas.microsoft.com/office/drawing/2014/main" id="{073763D2-9E89-0921-5D36-E754F3F4B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756" y="1110312"/>
            <a:ext cx="4110409" cy="2573601"/>
          </a:xfrm>
          <a:prstGeom prst="rect">
            <a:avLst/>
          </a:prstGeom>
        </p:spPr>
      </p:pic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067A748D-6BA9-60B0-DFF2-EC88EBA606B0}"/>
              </a:ext>
            </a:extLst>
          </p:cNvPr>
          <p:cNvSpPr txBox="1">
            <a:spLocks/>
          </p:cNvSpPr>
          <p:nvPr/>
        </p:nvSpPr>
        <p:spPr>
          <a:xfrm>
            <a:off x="609600" y="4114800"/>
            <a:ext cx="9982200" cy="19389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no es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constante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vamos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tener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dependencia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con la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longitud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dispositivo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Respecto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al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confinamiento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esta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estan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muy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bien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confinados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porque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temenos un bajo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contraste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 indices entre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núcleo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cladding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dos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tipos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guia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observa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 las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guías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son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cercanos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al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del cladding (1.46). </a:t>
            </a: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Como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aproxima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al del cladding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al del core no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tienen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buen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confinamiento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ES" sz="14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4238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12ad970-e211-4551-badd-1c89141866b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4F9E81278D9EF4B93FEF4C39323CCC6" ma:contentTypeVersion="9" ma:contentTypeDescription="Crear nuevo documento." ma:contentTypeScope="" ma:versionID="d3230f1af0420652ab6bb9cc9a7d79bf">
  <xsd:schema xmlns:xsd="http://www.w3.org/2001/XMLSchema" xmlns:xs="http://www.w3.org/2001/XMLSchema" xmlns:p="http://schemas.microsoft.com/office/2006/metadata/properties" xmlns:ns3="512ad970-e211-4551-badd-1c89141866b5" xmlns:ns4="39b51ea6-d3c9-44a5-b163-cfe7ba19310b" targetNamespace="http://schemas.microsoft.com/office/2006/metadata/properties" ma:root="true" ma:fieldsID="f33886ecf8d1a5727ad2dd4cfd712005" ns3:_="" ns4:_="">
    <xsd:import namespace="512ad970-e211-4551-badd-1c89141866b5"/>
    <xsd:import namespace="39b51ea6-d3c9-44a5-b163-cfe7ba19310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2ad970-e211-4551-badd-1c89141866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b51ea6-d3c9-44a5-b163-cfe7ba19310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2770CA-3061-447B-B38E-0CE919B71026}">
  <ds:schemaRefs>
    <ds:schemaRef ds:uri="http://purl.org/dc/terms/"/>
    <ds:schemaRef ds:uri="http://schemas.openxmlformats.org/package/2006/metadata/core-properties"/>
    <ds:schemaRef ds:uri="512ad970-e211-4551-badd-1c89141866b5"/>
    <ds:schemaRef ds:uri="http://purl.org/dc/dcmitype/"/>
    <ds:schemaRef ds:uri="http://schemas.microsoft.com/office/2006/documentManagement/types"/>
    <ds:schemaRef ds:uri="http://schemas.microsoft.com/office/infopath/2007/PartnerControls"/>
    <ds:schemaRef ds:uri="39b51ea6-d3c9-44a5-b163-cfe7ba19310b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D6A1A82-244F-49B2-AE87-9E0E62E4BD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D191D3-7CDB-438B-95CA-9F90BBE48D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2ad970-e211-4551-badd-1c89141866b5"/>
    <ds:schemaRef ds:uri="39b51ea6-d3c9-44a5-b163-cfe7ba1931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</TotalTime>
  <Words>901</Words>
  <Application>Microsoft Office PowerPoint</Application>
  <PresentationFormat>Panorámica</PresentationFormat>
  <Paragraphs>92</Paragraphs>
  <Slides>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Aptos</vt:lpstr>
      <vt:lpstr>Arial</vt:lpstr>
      <vt:lpstr>Calibri</vt:lpstr>
      <vt:lpstr>Lucida Sans</vt:lpstr>
      <vt:lpstr>Times New Roman</vt:lpstr>
      <vt:lpstr>Wingdings</vt:lpstr>
      <vt:lpstr>Office Theme</vt:lpstr>
      <vt:lpstr>Presentación de PowerPoint</vt:lpstr>
      <vt:lpstr>Instructions General</vt:lpstr>
      <vt:lpstr>Learning outcome #1 – Effective index of a waveguide </vt:lpstr>
      <vt:lpstr>Comentario Outcome #1</vt:lpstr>
      <vt:lpstr>Learning outcome #2 – Wavelength behavior Wavelength 1.5-1.6 µm (step 0.02 µm) – width 1.2 µm</vt:lpstr>
      <vt:lpstr>Comentarios Outcome #2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Maria Julve Benages</cp:lastModifiedBy>
  <cp:revision>9</cp:revision>
  <dcterms:created xsi:type="dcterms:W3CDTF">2025-01-27T02:46:57Z</dcterms:created>
  <dcterms:modified xsi:type="dcterms:W3CDTF">2026-03-02T18:16:26Z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  <property fmtid="{D5CDD505-2E9C-101B-9397-08002B2CF9AE}" pid="5" name="ContentTypeId">
    <vt:lpwstr>0x010100B4F9E81278D9EF4B93FEF4C39323CCC6</vt:lpwstr>
  </property>
</Properties>
</file>