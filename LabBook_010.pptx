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89" r:id="rId6"/>
    <p:sldId id="290" r:id="rId7"/>
    <p:sldId id="292" r:id="rId8"/>
    <p:sldId id="291" r:id="rId9"/>
    <p:sldId id="293" r:id="rId10"/>
    <p:sldId id="288" r:id="rId11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102A6-F98F-48C7-9AF4-68940EB5B3D9}" v="4" dt="2026-02-03T12:19:17.9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2" d="100"/>
          <a:sy n="82" d="100"/>
        </p:scale>
        <p:origin x="1152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664364" y="5549983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7" y="5549983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CAD427B-6097-910F-3ED4-DE28E90E11E0}"/>
              </a:ext>
            </a:extLst>
          </p:cNvPr>
          <p:cNvSpPr txBox="1"/>
          <p:nvPr/>
        </p:nvSpPr>
        <p:spPr>
          <a:xfrm>
            <a:off x="7901955" y="400263"/>
            <a:ext cx="410433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rgbClr val="FF0000"/>
                </a:solidFill>
              </a:rPr>
              <a:t>El índice efectivo es el índice que siente el modo al propagarse por la guía. Si solo esta confiando en el </a:t>
            </a:r>
            <a:r>
              <a:rPr lang="es-ES" sz="1400" dirty="0" err="1">
                <a:solidFill>
                  <a:srgbClr val="FF0000"/>
                </a:solidFill>
              </a:rPr>
              <a:t>core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tndra</a:t>
            </a:r>
            <a:r>
              <a:rPr lang="es-ES" sz="1400" dirty="0">
                <a:solidFill>
                  <a:srgbClr val="FF0000"/>
                </a:solidFill>
              </a:rPr>
              <a:t> en el </a:t>
            </a:r>
            <a:r>
              <a:rPr lang="es-ES" sz="1400" dirty="0" err="1">
                <a:solidFill>
                  <a:srgbClr val="FF0000"/>
                </a:solidFill>
              </a:rPr>
              <a:t>core</a:t>
            </a:r>
            <a:r>
              <a:rPr lang="es-ES" sz="1400" dirty="0">
                <a:solidFill>
                  <a:srgbClr val="FF0000"/>
                </a:solidFill>
              </a:rPr>
              <a:t> y si esta full en la cubierta será el índice del </a:t>
            </a:r>
            <a:r>
              <a:rPr lang="es-ES" sz="1400" dirty="0" err="1">
                <a:solidFill>
                  <a:srgbClr val="FF0000"/>
                </a:solidFill>
              </a:rPr>
              <a:t>cladding</a:t>
            </a:r>
            <a:r>
              <a:rPr lang="es-ES" sz="1400" dirty="0">
                <a:solidFill>
                  <a:srgbClr val="FF0000"/>
                </a:solidFill>
              </a:rPr>
              <a:t>, peri es esta entre los dos, existes un índice que englobe estos dos.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B94E6ED-8070-9B40-7058-DD03ED37BA0F}"/>
              </a:ext>
            </a:extLst>
          </p:cNvPr>
          <p:cNvSpPr txBox="1"/>
          <p:nvPr/>
        </p:nvSpPr>
        <p:spPr>
          <a:xfrm>
            <a:off x="7955726" y="1672334"/>
            <a:ext cx="4050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rgbClr val="FF0000"/>
                </a:solidFill>
              </a:rPr>
              <a:t>Los índices que se calculen y sean menores que los del </a:t>
            </a:r>
            <a:r>
              <a:rPr lang="es-ES" sz="1400" dirty="0" err="1">
                <a:solidFill>
                  <a:srgbClr val="FF0000"/>
                </a:solidFill>
              </a:rPr>
              <a:t>cladding</a:t>
            </a:r>
            <a:r>
              <a:rPr lang="es-ES" sz="1400" dirty="0">
                <a:solidFill>
                  <a:srgbClr val="FF0000"/>
                </a:solidFill>
              </a:rPr>
              <a:t>, son modos que no se propagan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y 2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y 3 son TM.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plots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(TE) y 1 (TM)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difernecia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(TE) y 3 (TM).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9E763E-BC09-F2D2-5B5F-BA40B7820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Comentario resultados obtenidos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8D9BAE8-7464-7A8D-1505-101CD955D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3897" y="667952"/>
            <a:ext cx="3991341" cy="646331"/>
          </a:xfrm>
        </p:spPr>
        <p:txBody>
          <a:bodyPr/>
          <a:lstStyle/>
          <a:p>
            <a:pPr algn="just"/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Tenemos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 y 2 son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TE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1 y 3 son TM.</a:t>
            </a:r>
          </a:p>
          <a:p>
            <a:endParaRPr lang="es-ES" sz="140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050BDDD-47A2-CCA3-6DFC-17F74A4D852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00B7220-4CEE-6025-7B44-69AD7E721A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pic>
        <p:nvPicPr>
          <p:cNvPr id="7" name="Imagen 6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D0052FFC-265F-BD00-A1F5-79369E296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79" y="1451633"/>
            <a:ext cx="3448050" cy="1736563"/>
          </a:xfrm>
          <a:prstGeom prst="rect">
            <a:avLst/>
          </a:prstGeom>
        </p:spPr>
      </p:pic>
      <p:sp>
        <p:nvSpPr>
          <p:cNvPr id="8" name="Marcador de texto 2">
            <a:extLst>
              <a:ext uri="{FF2B5EF4-FFF2-40B4-BE49-F238E27FC236}">
                <a16:creationId xmlns:a16="http://schemas.microsoft.com/office/drawing/2014/main" id="{AE70B213-9763-4DA9-8BF3-C01D20E65E05}"/>
              </a:ext>
            </a:extLst>
          </p:cNvPr>
          <p:cNvSpPr txBox="1">
            <a:spLocks/>
          </p:cNvSpPr>
          <p:nvPr/>
        </p:nvSpPr>
        <p:spPr>
          <a:xfrm>
            <a:off x="5257800" y="548287"/>
            <a:ext cx="6553200" cy="12926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plots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campo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 (TE) y 1 (TM)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2 (TE) y 3 (TM)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1400" kern="0" dirty="0">
              <a:solidFill>
                <a:sysClr val="windowText" lastClr="000000"/>
              </a:solidFill>
            </a:endParaRPr>
          </a:p>
        </p:txBody>
      </p:sp>
      <p:pic>
        <p:nvPicPr>
          <p:cNvPr id="10" name="Imagen 9" descr="Histograma&#10;&#10;El contenido generado por IA puede ser incorrecto.">
            <a:extLst>
              <a:ext uri="{FF2B5EF4-FFF2-40B4-BE49-F238E27FC236}">
                <a16:creationId xmlns:a16="http://schemas.microsoft.com/office/drawing/2014/main" id="{B48F81A6-BE1C-E6C0-6D02-DBCAA7D1F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0452" y="1147735"/>
            <a:ext cx="2210548" cy="1292662"/>
          </a:xfrm>
          <a:prstGeom prst="rect">
            <a:avLst/>
          </a:prstGeom>
        </p:spPr>
      </p:pic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60E818AF-B43A-E6B8-9A93-97D8F70C9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043326"/>
            <a:ext cx="2412289" cy="1292662"/>
          </a:xfrm>
          <a:prstGeom prst="rect">
            <a:avLst/>
          </a:prstGeom>
        </p:spPr>
      </p:pic>
      <p:pic>
        <p:nvPicPr>
          <p:cNvPr id="14" name="Imagen 13" descr="Imagen que contiene Gráfico&#10;&#10;El contenido generado por IA puede ser incorrecto.">
            <a:extLst>
              <a:ext uri="{FF2B5EF4-FFF2-40B4-BE49-F238E27FC236}">
                <a16:creationId xmlns:a16="http://schemas.microsoft.com/office/drawing/2014/main" id="{E9C2C45D-E055-687E-57E6-23AC6E64AD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2855" y="2474155"/>
            <a:ext cx="2073912" cy="1116503"/>
          </a:xfrm>
          <a:prstGeom prst="rect">
            <a:avLst/>
          </a:prstGeom>
        </p:spPr>
      </p:pic>
      <p:pic>
        <p:nvPicPr>
          <p:cNvPr id="16" name="Imagen 15" descr="Imagen que contiene Gráfico&#10;&#10;El contenido generado por IA puede ser incorrecto.">
            <a:extLst>
              <a:ext uri="{FF2B5EF4-FFF2-40B4-BE49-F238E27FC236}">
                <a16:creationId xmlns:a16="http://schemas.microsoft.com/office/drawing/2014/main" id="{7F999343-8AEB-DF27-2556-89F7BEEFAD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4369" y="2474155"/>
            <a:ext cx="2234687" cy="112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6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superior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SiO2 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cambio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deep waveguide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y 3 no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281672" y="2671278"/>
            <a:ext cx="17229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3260072-4336-C477-FDF6-3CF8F695AE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59" y="1645482"/>
            <a:ext cx="5126533" cy="2990478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D8790E9-D5FA-BF84-1C13-E0C9F45B3C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7316" y="1571789"/>
            <a:ext cx="5294562" cy="308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E64652-1DB7-E694-D36B-985DB6D7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Comentarios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70538A-68E4-F5CA-1BBB-7CD552AAD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550" y="685800"/>
            <a:ext cx="5200650" cy="430887"/>
          </a:xfrm>
        </p:spPr>
        <p:txBody>
          <a:bodyPr/>
          <a:lstStyle/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 la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shallow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0,y 3 son TE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1 y 2 son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hibridos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mayoritariamente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TE.</a:t>
            </a:r>
          </a:p>
          <a:p>
            <a:endParaRPr lang="es-ES" sz="140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9A70AEF-A0E3-E117-BB88-746F97AD7C2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196C78E-166D-AE50-D427-CD26140F594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pic>
        <p:nvPicPr>
          <p:cNvPr id="7" name="Imagen 6" descr="Texto&#10;&#10;El contenido generado por IA puede ser incorrecto.">
            <a:extLst>
              <a:ext uri="{FF2B5EF4-FFF2-40B4-BE49-F238E27FC236}">
                <a16:creationId xmlns:a16="http://schemas.microsoft.com/office/drawing/2014/main" id="{D5E8ED96-2A1A-07AC-B725-88D2612B8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1224396"/>
            <a:ext cx="5104614" cy="2562476"/>
          </a:xfrm>
          <a:prstGeom prst="rect">
            <a:avLst/>
          </a:prstGeom>
        </p:spPr>
      </p:pic>
      <p:sp>
        <p:nvSpPr>
          <p:cNvPr id="8" name="Marcador de texto 2">
            <a:extLst>
              <a:ext uri="{FF2B5EF4-FFF2-40B4-BE49-F238E27FC236}">
                <a16:creationId xmlns:a16="http://schemas.microsoft.com/office/drawing/2014/main" id="{15A913E1-D1BA-3C75-C94A-64EE39100AAA}"/>
              </a:ext>
            </a:extLst>
          </p:cNvPr>
          <p:cNvSpPr txBox="1">
            <a:spLocks/>
          </p:cNvSpPr>
          <p:nvPr/>
        </p:nvSpPr>
        <p:spPr>
          <a:xfrm>
            <a:off x="6096000" y="685800"/>
            <a:ext cx="520065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 la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deep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0 y 2 son TE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1 y 3 son TM.</a:t>
            </a:r>
            <a:endParaRPr lang="es-ES" sz="1400" kern="0" dirty="0">
              <a:solidFill>
                <a:sysClr val="windowText" lastClr="000000"/>
              </a:solidFill>
            </a:endParaRPr>
          </a:p>
        </p:txBody>
      </p:sp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073763D2-9E89-0921-5D36-E754F3F4B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99514"/>
            <a:ext cx="4110409" cy="2573601"/>
          </a:xfrm>
          <a:prstGeom prst="rect">
            <a:avLst/>
          </a:prstGeom>
        </p:spPr>
      </p:pic>
      <p:sp>
        <p:nvSpPr>
          <p:cNvPr id="13" name="Marcador de texto 2">
            <a:extLst>
              <a:ext uri="{FF2B5EF4-FFF2-40B4-BE49-F238E27FC236}">
                <a16:creationId xmlns:a16="http://schemas.microsoft.com/office/drawing/2014/main" id="{067A748D-6BA9-60B0-DFF2-EC88EBA606B0}"/>
              </a:ext>
            </a:extLst>
          </p:cNvPr>
          <p:cNvSpPr txBox="1">
            <a:spLocks/>
          </p:cNvSpPr>
          <p:nvPr/>
        </p:nvSpPr>
        <p:spPr>
          <a:xfrm>
            <a:off x="609600" y="4114800"/>
            <a:ext cx="9982200" cy="15081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no es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con la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dispositivo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bien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temenos un bajo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contraste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indices entre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cladding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tipos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 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guias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cercanos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del cladding (1.46). Como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aproxima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mas al del cladding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al del core no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buen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ES" sz="14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238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4F9E81278D9EF4B93FEF4C39323CCC6" ma:contentTypeVersion="9" ma:contentTypeDescription="Crear nuevo documento." ma:contentTypeScope="" ma:versionID="d3230f1af0420652ab6bb9cc9a7d79bf">
  <xsd:schema xmlns:xsd="http://www.w3.org/2001/XMLSchema" xmlns:xs="http://www.w3.org/2001/XMLSchema" xmlns:p="http://schemas.microsoft.com/office/2006/metadata/properties" xmlns:ns3="512ad970-e211-4551-badd-1c89141866b5" xmlns:ns4="39b51ea6-d3c9-44a5-b163-cfe7ba19310b" targetNamespace="http://schemas.microsoft.com/office/2006/metadata/properties" ma:root="true" ma:fieldsID="f33886ecf8d1a5727ad2dd4cfd712005" ns3:_="" ns4:_="">
    <xsd:import namespace="512ad970-e211-4551-badd-1c89141866b5"/>
    <xsd:import namespace="39b51ea6-d3c9-44a5-b163-cfe7ba19310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2ad970-e211-4551-badd-1c89141866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b51ea6-d3c9-44a5-b163-cfe7ba19310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2ad970-e211-4551-badd-1c89141866b5" xsi:nil="true"/>
  </documentManagement>
</p:properties>
</file>

<file path=customXml/itemProps1.xml><?xml version="1.0" encoding="utf-8"?>
<ds:datastoreItem xmlns:ds="http://schemas.openxmlformats.org/officeDocument/2006/customXml" ds:itemID="{74D191D3-7CDB-438B-95CA-9F90BBE48D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2ad970-e211-4551-badd-1c89141866b5"/>
    <ds:schemaRef ds:uri="39b51ea6-d3c9-44a5-b163-cfe7ba1931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D6A1A82-244F-49B2-AE87-9E0E62E4BD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2770CA-3061-447B-B38E-0CE919B71026}">
  <ds:schemaRefs>
    <ds:schemaRef ds:uri="http://purl.org/dc/terms/"/>
    <ds:schemaRef ds:uri="http://schemas.openxmlformats.org/package/2006/metadata/core-properties"/>
    <ds:schemaRef ds:uri="512ad970-e211-4551-badd-1c89141866b5"/>
    <ds:schemaRef ds:uri="http://purl.org/dc/dcmitype/"/>
    <ds:schemaRef ds:uri="http://schemas.microsoft.com/office/2006/documentManagement/types"/>
    <ds:schemaRef ds:uri="http://schemas.microsoft.com/office/infopath/2007/PartnerControls"/>
    <ds:schemaRef ds:uri="39b51ea6-d3c9-44a5-b163-cfe7ba19310b"/>
    <ds:schemaRef ds:uri="http://schemas.microsoft.com/office/2006/metadata/propertie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514</TotalTime>
  <Words>708</Words>
  <Application>Microsoft Office PowerPoint</Application>
  <PresentationFormat>Panorámica</PresentationFormat>
  <Paragraphs>81</Paragraphs>
  <Slides>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Comentario resultados obtenidos</vt:lpstr>
      <vt:lpstr>Learning outcome #2 – Wavelength behavior Wavelength 1.5-1.6 µm (step 0.02 µm) – width 1.2 µm</vt:lpstr>
      <vt:lpstr>Comentarios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Julve Benages</cp:lastModifiedBy>
  <cp:revision>8</cp:revision>
  <dcterms:created xsi:type="dcterms:W3CDTF">2025-01-27T02:46:57Z</dcterms:created>
  <dcterms:modified xsi:type="dcterms:W3CDTF">2026-02-16T09:59:21Z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  <property fmtid="{D5CDD505-2E9C-101B-9397-08002B2CF9AE}" pid="5" name="ContentTypeId">
    <vt:lpwstr>0x010100B4F9E81278D9EF4B93FEF4C39323CCC6</vt:lpwstr>
  </property>
</Properties>
</file>