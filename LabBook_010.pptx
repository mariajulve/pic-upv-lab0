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>
  <p:sldMasterIdLst>
    <p:sldMasterId id="2147483648" r:id="rId4"/>
  </p:sldMasterIdLst>
  <p:notesMasterIdLst>
    <p:notesMasterId r:id="rId12"/>
  </p:notesMasterIdLst>
  <p:handoutMasterIdLst>
    <p:handoutMasterId r:id="rId13"/>
  </p:handoutMasterIdLst>
  <p:sldIdLst>
    <p:sldId id="256" r:id="rId5"/>
    <p:sldId id="289" r:id="rId6"/>
    <p:sldId id="290" r:id="rId7"/>
    <p:sldId id="292" r:id="rId8"/>
    <p:sldId id="291" r:id="rId9"/>
    <p:sldId id="293" r:id="rId10"/>
    <p:sldId id="288" r:id="rId11"/>
  </p:sldIdLst>
  <p:sldSz cx="12192000" cy="6858000"/>
  <p:notesSz cx="12192000" cy="6858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D3102A6-F98F-48C7-9AF4-68940EB5B3D9}" v="4" dt="2026-02-03T12:19:17.949"/>
  </p1510:revLst>
</p1510:revInfo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5538" autoAdjust="0"/>
    <p:restoredTop sz="95033" autoAdjust="0"/>
  </p:normalViewPr>
  <p:slideViewPr>
    <p:cSldViewPr>
      <p:cViewPr varScale="1">
        <p:scale>
          <a:sx n="82" d="100"/>
          <a:sy n="82" d="100"/>
        </p:scale>
        <p:origin x="1152" y="72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83" d="100"/>
          <a:sy n="83" d="100"/>
        </p:scale>
        <p:origin x="1392" y="6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handoutMaster" Target="handoutMasters/handoutMaster1.xml"/><Relationship Id="rId18" Type="http://schemas.microsoft.com/office/2015/10/relationships/revisionInfo" Target="revisionInfo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notesMaster" Target="notesMasters/notesMaster1.xml"/><Relationship Id="rId17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viewProps" Target="viewProps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>
            <a:extLst>
              <a:ext uri="{FF2B5EF4-FFF2-40B4-BE49-F238E27FC236}">
                <a16:creationId xmlns:a16="http://schemas.microsoft.com/office/drawing/2014/main" id="{ADD96E76-517F-B468-04D8-38EFA44947E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8678D0B9-782A-7C16-D731-EEB7F991FA76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438F8DC-35B0-48E6-A86E-42F1F08DD00F}" type="datetimeFigureOut">
              <a:rPr lang="es-ES" smtClean="0"/>
              <a:t>16/02/2026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2F2E7B1C-60E2-8A48-EEE0-6715FC30A8B7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C428D795-4EA2-62F0-B78A-5F215C828C5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116A549-763A-4A89-A454-A94BAF51395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40347774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ACBDC12-F39B-4B97-8F4D-6734F9D366FF}" type="datetimeFigureOut">
              <a:rPr lang="es-ES" smtClean="0"/>
              <a:t>16/02/2026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4038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1219200" y="3300413"/>
            <a:ext cx="9753600" cy="27003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76223B9-C868-4436-87D9-1A3152E1157A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8342111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09253237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3C5711-C157-AA5E-1EA1-9F4C3F40B9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FFA117F6-F66D-FFD4-422F-EBD94B31F3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02B512FE-9F6C-4ABD-23FA-CA518B458D1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9624E7A5-CBFC-658B-8E88-8AF8084D5BC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83296143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sv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14400" y="2125980"/>
            <a:ext cx="10363200" cy="14401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900" b="0" i="0">
                <a:solidFill>
                  <a:srgbClr val="585858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ct val="100000"/>
              </a:lnSpc>
              <a:spcBef>
                <a:spcPts val="15"/>
              </a:spcBef>
            </a:pPr>
            <a:r>
              <a:rPr lang="es-ES" spc="-5"/>
              <a:t>LAB 0.1. MODESOLVER</a:t>
            </a:r>
            <a:endParaRPr spc="-5"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590550" y="206752"/>
            <a:ext cx="10991850" cy="307777"/>
          </a:xfrm>
        </p:spPr>
        <p:txBody>
          <a:bodyPr lIns="0" tIns="0" rIns="0" bIns="0"/>
          <a:lstStyle>
            <a:lvl1pPr>
              <a:defRPr sz="2000" b="1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 dirty="0"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609600" y="2152910"/>
            <a:ext cx="10972800" cy="3950710"/>
          </a:xfrm>
        </p:spPr>
        <p:txBody>
          <a:bodyPr lIns="0" tIns="0" rIns="0" bIns="0"/>
          <a:lstStyle>
            <a:lvl1pPr>
              <a:defRPr/>
            </a:lvl1pPr>
          </a:lstStyle>
          <a:p>
            <a:endParaRPr dirty="0"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609600" y="6457057"/>
            <a:ext cx="2743200" cy="184666"/>
          </a:xfrm>
        </p:spPr>
        <p:txBody>
          <a:bodyPr lIns="0" tIns="0" rIns="0" bIns="0" anchor="ctr"/>
          <a:lstStyle>
            <a:lvl1pPr>
              <a:defRPr sz="1200" b="0" i="0">
                <a:solidFill>
                  <a:srgbClr val="585858"/>
                </a:solidFill>
                <a:latin typeface="Arial"/>
                <a:cs typeface="Arial"/>
              </a:defRPr>
            </a:lvl1pPr>
          </a:lstStyle>
          <a:p>
            <a:pPr marL="12700">
              <a:spcBef>
                <a:spcPts val="15"/>
              </a:spcBef>
            </a:pPr>
            <a:r>
              <a:rPr lang="es-ES" spc="-5"/>
              <a:t>LAB 0.1. MODESOLVER</a:t>
            </a:r>
            <a:endParaRPr lang="es-ES" spc="-5"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9311640" y="6377940"/>
            <a:ext cx="2804160" cy="342900"/>
          </a:xfrm>
        </p:spPr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6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900" b="0" i="0">
                <a:solidFill>
                  <a:srgbClr val="585858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ct val="100000"/>
              </a:lnSpc>
              <a:spcBef>
                <a:spcPts val="15"/>
              </a:spcBef>
            </a:pPr>
            <a:r>
              <a:rPr lang="es-ES" spc="-5"/>
              <a:t>LAB 0.1. MODESOLVER</a:t>
            </a:r>
            <a:endParaRPr spc="-5" dirty="0"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0" y="2636520"/>
            <a:ext cx="3944620" cy="1584960"/>
          </a:xfrm>
          <a:custGeom>
            <a:avLst/>
            <a:gdLst/>
            <a:ahLst/>
            <a:cxnLst/>
            <a:rect l="l" t="t" r="r" b="b"/>
            <a:pathLst>
              <a:path w="3944620" h="1584960">
                <a:moveTo>
                  <a:pt x="0" y="1584959"/>
                </a:moveTo>
                <a:lnTo>
                  <a:pt x="3944112" y="1584959"/>
                </a:lnTo>
                <a:lnTo>
                  <a:pt x="3944112" y="0"/>
                </a:lnTo>
                <a:lnTo>
                  <a:pt x="0" y="0"/>
                </a:lnTo>
                <a:lnTo>
                  <a:pt x="0" y="1584959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k object 17"/>
          <p:cNvSpPr/>
          <p:nvPr/>
        </p:nvSpPr>
        <p:spPr>
          <a:xfrm>
            <a:off x="771144" y="2951988"/>
            <a:ext cx="2403348" cy="954024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6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>
          <a:xfrm>
            <a:off x="9296400" y="6377940"/>
            <a:ext cx="2804160" cy="342900"/>
          </a:xfrm>
        </p:spPr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  <p:pic>
        <p:nvPicPr>
          <p:cNvPr id="6" name="Gráfico 5">
            <a:extLst>
              <a:ext uri="{FF2B5EF4-FFF2-40B4-BE49-F238E27FC236}">
                <a16:creationId xmlns:a16="http://schemas.microsoft.com/office/drawing/2014/main" id="{F5CB4B75-CC85-5F87-B13B-97FD63FFBC5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891213" y="6357666"/>
            <a:ext cx="6409575" cy="363174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594327" y="4722313"/>
            <a:ext cx="1521016" cy="1253853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>
          <a:xfrm>
            <a:off x="9372600" y="6377940"/>
            <a:ext cx="2804160" cy="342900"/>
          </a:xfrm>
        </p:spPr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  <p:pic>
        <p:nvPicPr>
          <p:cNvPr id="5" name="Gráfico 4">
            <a:extLst>
              <a:ext uri="{FF2B5EF4-FFF2-40B4-BE49-F238E27FC236}">
                <a16:creationId xmlns:a16="http://schemas.microsoft.com/office/drawing/2014/main" id="{9F3DE434-B07E-429D-5547-0D42DA9B05A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891539" y="5283707"/>
            <a:ext cx="2624328" cy="1574289"/>
          </a:xfrm>
          <a:prstGeom prst="rect">
            <a:avLst/>
          </a:prstGeom>
          <a:blipFill>
            <a:blip r:embed="rId7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986910" y="1699005"/>
            <a:ext cx="2599054" cy="26923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6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609600" y="1577340"/>
            <a:ext cx="1097280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5695950" y="6465068"/>
            <a:ext cx="1210945" cy="153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900" b="0" i="0">
                <a:solidFill>
                  <a:srgbClr val="585858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ct val="100000"/>
              </a:lnSpc>
              <a:spcBef>
                <a:spcPts val="15"/>
              </a:spcBef>
            </a:pPr>
            <a:r>
              <a:rPr lang="es-ES" spc="-5"/>
              <a:t>LAB 0.1. MODESOLVER</a:t>
            </a:r>
            <a:endParaRPr spc="-5"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931164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hf hdr="0" dt="0"/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cccanvas-upv/pic-upv-lab0.git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4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/>
          <p:nvPr/>
        </p:nvSpPr>
        <p:spPr>
          <a:xfrm>
            <a:off x="2749676" y="4919853"/>
            <a:ext cx="6106795" cy="5137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s-ES" sz="3200" b="1" dirty="0" err="1">
                <a:latin typeface="Lucida Sans"/>
                <a:cs typeface="Lucida Sans"/>
              </a:rPr>
              <a:t>Lab</a:t>
            </a:r>
            <a:r>
              <a:rPr lang="es-ES" sz="3200" b="1" dirty="0">
                <a:latin typeface="Lucida Sans"/>
                <a:cs typeface="Lucida Sans"/>
              </a:rPr>
              <a:t> Book 0.1. </a:t>
            </a:r>
            <a:r>
              <a:rPr lang="es-ES" sz="3200" b="1" dirty="0" err="1">
                <a:latin typeface="Lucida Sans"/>
                <a:cs typeface="Lucida Sans"/>
              </a:rPr>
              <a:t>ModeSolver</a:t>
            </a:r>
            <a:endParaRPr sz="3200" dirty="0">
              <a:latin typeface="Lucida Sans"/>
              <a:cs typeface="Lucida Sans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2749676" y="5610250"/>
            <a:ext cx="8223124" cy="28982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s-ES" spc="165" dirty="0" err="1">
                <a:latin typeface="Arial"/>
                <a:cs typeface="Arial"/>
              </a:rPr>
              <a:t>Student</a:t>
            </a:r>
            <a:r>
              <a:rPr lang="es-ES" spc="165" dirty="0">
                <a:latin typeface="Arial"/>
                <a:cs typeface="Arial"/>
              </a:rPr>
              <a:t>: </a:t>
            </a:r>
            <a:endParaRPr sz="1800" dirty="0">
              <a:latin typeface="Arial"/>
              <a:cs typeface="Arial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0" y="0"/>
            <a:ext cx="12192000" cy="4189476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F6F66F51-9238-50FE-85C2-BAC3DA79D767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1</a:t>
            </a:fld>
            <a:endParaRPr lang="es-E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48A4D4-C3C4-085B-A7AD-EA04D83F48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1B7433F1-7A0E-D925-6140-7305139D053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6153785" cy="7053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s-ES" sz="2500" u="sng" spc="-5" dirty="0" err="1">
                <a:latin typeface="+mj-lt"/>
                <a:cs typeface="Lucida Sans"/>
              </a:rPr>
              <a:t>Instructions</a:t>
            </a:r>
            <a:br>
              <a:rPr lang="es-ES" sz="2400" spc="-5" dirty="0">
                <a:latin typeface="+mj-lt"/>
                <a:cs typeface="Lucida Sans"/>
              </a:rPr>
            </a:br>
            <a:r>
              <a:rPr lang="es-ES" b="0" spc="-5" dirty="0">
                <a:latin typeface="+mj-lt"/>
                <a:cs typeface="Lucida Sans"/>
              </a:rPr>
              <a:t>General</a:t>
            </a:r>
            <a:endParaRPr sz="24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E518E73B-CE22-A00C-9C86-634FB762EE6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1E163A6B-DFE4-C67D-5F3E-A56ACEF2EA4C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2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95FC84FF-30D3-FDAB-0A5A-0F07F8EE1161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 dirty="0"/>
              <a:t>LAB 0.1. MODESOLVER</a:t>
            </a:r>
          </a:p>
        </p:txBody>
      </p:sp>
      <p:sp>
        <p:nvSpPr>
          <p:cNvPr id="4" name="Marcador de texto 2">
            <a:extLst>
              <a:ext uri="{FF2B5EF4-FFF2-40B4-BE49-F238E27FC236}">
                <a16:creationId xmlns:a16="http://schemas.microsoft.com/office/drawing/2014/main" id="{9F7BC140-B3D8-C3CB-55AD-9064C7CDE9CA}"/>
              </a:ext>
            </a:extLst>
          </p:cNvPr>
          <p:cNvSpPr txBox="1">
            <a:spLocks/>
          </p:cNvSpPr>
          <p:nvPr/>
        </p:nvSpPr>
        <p:spPr>
          <a:xfrm>
            <a:off x="608011" y="1163263"/>
            <a:ext cx="11048999" cy="4958137"/>
          </a:xfrm>
          <a:prstGeom prst="rect">
            <a:avLst/>
          </a:prstGeom>
        </p:spPr>
        <p:txBody>
          <a:bodyPr>
            <a:normAutofit/>
          </a:bodyPr>
          <a:lstStyle>
            <a:lvl1pPr marL="0">
              <a:defRPr>
                <a:latin typeface="+mn-lt"/>
                <a:ea typeface="+mn-ea"/>
                <a:cs typeface="+mn-cs"/>
              </a:defRPr>
            </a:lvl1pPr>
            <a:lvl2pPr marL="457200">
              <a:defRPr>
                <a:latin typeface="+mn-lt"/>
                <a:ea typeface="+mn-ea"/>
                <a:cs typeface="+mn-cs"/>
              </a:defRPr>
            </a:lvl2pPr>
            <a:lvl3pPr marL="914400">
              <a:defRPr>
                <a:latin typeface="+mn-lt"/>
                <a:ea typeface="+mn-ea"/>
                <a:cs typeface="+mn-cs"/>
              </a:defRPr>
            </a:lvl3pPr>
            <a:lvl4pPr marL="1371600">
              <a:defRPr>
                <a:latin typeface="+mn-lt"/>
                <a:ea typeface="+mn-ea"/>
                <a:cs typeface="+mn-cs"/>
              </a:defRPr>
            </a:lvl4pPr>
            <a:lvl5pPr marL="1828800">
              <a:defRPr>
                <a:latin typeface="+mn-lt"/>
                <a:ea typeface="+mn-ea"/>
                <a:cs typeface="+mn-cs"/>
              </a:defRPr>
            </a:lvl5pPr>
            <a:lvl6pPr marL="2286000">
              <a:defRPr>
                <a:latin typeface="+mn-lt"/>
                <a:ea typeface="+mn-ea"/>
                <a:cs typeface="+mn-cs"/>
              </a:defRPr>
            </a:lvl6pPr>
            <a:lvl7pPr marL="2743200">
              <a:defRPr>
                <a:latin typeface="+mn-lt"/>
                <a:ea typeface="+mn-ea"/>
                <a:cs typeface="+mn-cs"/>
              </a:defRPr>
            </a:lvl7pPr>
            <a:lvl8pPr marL="3200400">
              <a:defRPr>
                <a:latin typeface="+mn-lt"/>
                <a:ea typeface="+mn-ea"/>
                <a:cs typeface="+mn-cs"/>
              </a:defRPr>
            </a:lvl8pPr>
            <a:lvl9pPr marL="3657600">
              <a:defRPr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en-US" sz="2000" b="1" kern="0" dirty="0">
                <a:solidFill>
                  <a:sysClr val="windowText" lastClr="000000"/>
                </a:solidFill>
                <a:sym typeface="Wingdings" pitchFamily="2" charset="2"/>
              </a:rPr>
              <a:t>SCRIPTS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  <a:sym typeface="Wingdings" pitchFamily="2" charset="2"/>
              </a:rPr>
              <a:t>From 	GitHub  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  <a:sym typeface="Wingdings" pitchFamily="2" charset="2"/>
              </a:rPr>
              <a:t>Fork the repo: </a:t>
            </a:r>
            <a:r>
              <a:rPr lang="en-US" kern="0" dirty="0">
                <a:solidFill>
                  <a:sysClr val="windowText" lastClr="000000"/>
                </a:solidFill>
                <a:sym typeface="Wingdings" pitchFamily="2" charset="2"/>
                <a:hlinkClick r:id="rId4"/>
              </a:rPr>
              <a:t>https://github.com/cccanvas-upv/pic-upv-lab0.git</a:t>
            </a:r>
            <a:endParaRPr lang="en-US" kern="0" dirty="0">
              <a:solidFill>
                <a:sysClr val="windowText" lastClr="000000"/>
              </a:solidFill>
              <a:sym typeface="Wingdings" pitchFamily="2" charset="2"/>
            </a:endParaRP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  <a:sym typeface="Wingdings" pitchFamily="2" charset="2"/>
              </a:rPr>
              <a:t>Clone the repo using </a:t>
            </a:r>
            <a:r>
              <a:rPr lang="en-US" kern="0" dirty="0" err="1">
                <a:solidFill>
                  <a:sysClr val="windowText" lastClr="000000"/>
                </a:solidFill>
                <a:sym typeface="Wingdings" pitchFamily="2" charset="2"/>
              </a:rPr>
              <a:t>VSCode</a:t>
            </a:r>
            <a:endParaRPr lang="en-US" kern="0" dirty="0">
              <a:solidFill>
                <a:sysClr val="windowText" lastClr="000000"/>
              </a:solidFill>
              <a:sym typeface="Wingdings" pitchFamily="2" charset="2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</a:rPr>
              <a:t>Run the </a:t>
            </a:r>
            <a:r>
              <a:rPr lang="en-US" kern="0" dirty="0" err="1">
                <a:solidFill>
                  <a:sysClr val="windowText" lastClr="000000"/>
                </a:solidFill>
              </a:rPr>
              <a:t>Jupyter</a:t>
            </a:r>
            <a:r>
              <a:rPr lang="en-US" kern="0" dirty="0">
                <a:solidFill>
                  <a:sysClr val="windowText" lastClr="000000"/>
                </a:solidFill>
              </a:rPr>
              <a:t> Notebook: 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</a:rPr>
              <a:t>010_MODESOLVER_Student.ipynb </a:t>
            </a:r>
          </a:p>
          <a:p>
            <a:pPr algn="just"/>
            <a:r>
              <a:rPr lang="en-US" b="1" kern="0" dirty="0">
                <a:solidFill>
                  <a:sysClr val="windowText" lastClr="000000"/>
                </a:solidFill>
              </a:rPr>
              <a:t>INSTRUCTIONS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dirty="0"/>
              <a:t>We are going to work with different </a:t>
            </a:r>
            <a:r>
              <a:rPr lang="en-US" b="1" i="1" dirty="0"/>
              <a:t>Cross-Sections. </a:t>
            </a:r>
            <a:r>
              <a:rPr lang="en-US" dirty="0"/>
              <a:t>In general, we will need: </a:t>
            </a:r>
            <a:r>
              <a:rPr lang="en-US" b="1" i="1" dirty="0"/>
              <a:t>Materials</a:t>
            </a:r>
            <a:r>
              <a:rPr lang="en-US" dirty="0"/>
              <a:t> definitions and the </a:t>
            </a:r>
            <a:r>
              <a:rPr lang="en-US" b="1" dirty="0"/>
              <a:t>Geometrical</a:t>
            </a:r>
            <a:r>
              <a:rPr lang="en-US" dirty="0"/>
              <a:t> parameters of each Cross-section</a:t>
            </a:r>
            <a:r>
              <a:rPr lang="en-US" b="1" i="1" dirty="0"/>
              <a:t>.</a:t>
            </a:r>
          </a:p>
          <a:p>
            <a:pPr algn="just"/>
            <a:endParaRPr lang="en-US" sz="2000" b="1" i="1" dirty="0"/>
          </a:p>
          <a:p>
            <a:pPr algn="just"/>
            <a:endParaRPr lang="en-US" sz="2000" kern="0" dirty="0">
              <a:solidFill>
                <a:sysClr val="windowText" lastClr="000000"/>
              </a:solidFill>
            </a:endParaRPr>
          </a:p>
        </p:txBody>
      </p:sp>
      <p:sp>
        <p:nvSpPr>
          <p:cNvPr id="5" name="object 7">
            <a:extLst>
              <a:ext uri="{FF2B5EF4-FFF2-40B4-BE49-F238E27FC236}">
                <a16:creationId xmlns:a16="http://schemas.microsoft.com/office/drawing/2014/main" id="{B99085AB-5BCA-5571-FA65-E3617707DBFA}"/>
              </a:ext>
            </a:extLst>
          </p:cNvPr>
          <p:cNvSpPr/>
          <p:nvPr/>
        </p:nvSpPr>
        <p:spPr>
          <a:xfrm>
            <a:off x="1245115" y="4499713"/>
            <a:ext cx="544195" cy="344805"/>
          </a:xfrm>
          <a:custGeom>
            <a:avLst/>
            <a:gdLst/>
            <a:ahLst/>
            <a:cxnLst/>
            <a:rect l="l" t="t" r="r" b="b"/>
            <a:pathLst>
              <a:path w="544195" h="344805">
                <a:moveTo>
                  <a:pt x="0" y="344424"/>
                </a:moveTo>
                <a:lnTo>
                  <a:pt x="544067" y="344424"/>
                </a:lnTo>
                <a:lnTo>
                  <a:pt x="544067" y="0"/>
                </a:lnTo>
                <a:lnTo>
                  <a:pt x="0" y="0"/>
                </a:lnTo>
                <a:lnTo>
                  <a:pt x="0" y="344424"/>
                </a:lnTo>
                <a:close/>
              </a:path>
            </a:pathLst>
          </a:custGeom>
          <a:solidFill>
            <a:srgbClr val="CCB657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8">
            <a:extLst>
              <a:ext uri="{FF2B5EF4-FFF2-40B4-BE49-F238E27FC236}">
                <a16:creationId xmlns:a16="http://schemas.microsoft.com/office/drawing/2014/main" id="{17590B25-6ABE-9620-2C63-B4856DDBCE5D}"/>
              </a:ext>
            </a:extLst>
          </p:cNvPr>
          <p:cNvSpPr/>
          <p:nvPr/>
        </p:nvSpPr>
        <p:spPr>
          <a:xfrm>
            <a:off x="1245115" y="4499713"/>
            <a:ext cx="544195" cy="344805"/>
          </a:xfrm>
          <a:custGeom>
            <a:avLst/>
            <a:gdLst/>
            <a:ahLst/>
            <a:cxnLst/>
            <a:rect l="l" t="t" r="r" b="b"/>
            <a:pathLst>
              <a:path w="544195" h="344805">
                <a:moveTo>
                  <a:pt x="0" y="344424"/>
                </a:moveTo>
                <a:lnTo>
                  <a:pt x="544067" y="344424"/>
                </a:lnTo>
                <a:lnTo>
                  <a:pt x="544067" y="0"/>
                </a:lnTo>
                <a:lnTo>
                  <a:pt x="0" y="0"/>
                </a:lnTo>
                <a:lnTo>
                  <a:pt x="0" y="344424"/>
                </a:lnTo>
                <a:close/>
              </a:path>
            </a:pathLst>
          </a:custGeom>
          <a:ln w="12191">
            <a:solidFill>
              <a:srgbClr val="6F6021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0" name="object 9">
            <a:extLst>
              <a:ext uri="{FF2B5EF4-FFF2-40B4-BE49-F238E27FC236}">
                <a16:creationId xmlns:a16="http://schemas.microsoft.com/office/drawing/2014/main" id="{854026DA-C7BC-391A-30F9-BF8D7187210E}"/>
              </a:ext>
            </a:extLst>
          </p:cNvPr>
          <p:cNvSpPr/>
          <p:nvPr/>
        </p:nvSpPr>
        <p:spPr>
          <a:xfrm>
            <a:off x="1245115" y="3905354"/>
            <a:ext cx="1323340" cy="594360"/>
          </a:xfrm>
          <a:custGeom>
            <a:avLst/>
            <a:gdLst/>
            <a:ahLst/>
            <a:cxnLst/>
            <a:rect l="l" t="t" r="r" b="b"/>
            <a:pathLst>
              <a:path w="1323340" h="594360">
                <a:moveTo>
                  <a:pt x="1322832" y="0"/>
                </a:moveTo>
                <a:lnTo>
                  <a:pt x="769493" y="0"/>
                </a:lnTo>
                <a:lnTo>
                  <a:pt x="0" y="594359"/>
                </a:lnTo>
                <a:lnTo>
                  <a:pt x="553338" y="594359"/>
                </a:lnTo>
                <a:lnTo>
                  <a:pt x="1322832" y="0"/>
                </a:lnTo>
                <a:close/>
              </a:path>
            </a:pathLst>
          </a:custGeom>
          <a:solidFill>
            <a:srgbClr val="CCB657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5" name="object 10">
            <a:extLst>
              <a:ext uri="{FF2B5EF4-FFF2-40B4-BE49-F238E27FC236}">
                <a16:creationId xmlns:a16="http://schemas.microsoft.com/office/drawing/2014/main" id="{68F18FA1-D512-5553-8E16-C81F17B1FD4E}"/>
              </a:ext>
            </a:extLst>
          </p:cNvPr>
          <p:cNvSpPr/>
          <p:nvPr/>
        </p:nvSpPr>
        <p:spPr>
          <a:xfrm>
            <a:off x="1245115" y="3905354"/>
            <a:ext cx="1323340" cy="594360"/>
          </a:xfrm>
          <a:custGeom>
            <a:avLst/>
            <a:gdLst/>
            <a:ahLst/>
            <a:cxnLst/>
            <a:rect l="l" t="t" r="r" b="b"/>
            <a:pathLst>
              <a:path w="1323340" h="594360">
                <a:moveTo>
                  <a:pt x="0" y="594359"/>
                </a:moveTo>
                <a:lnTo>
                  <a:pt x="769493" y="0"/>
                </a:lnTo>
                <a:lnTo>
                  <a:pt x="1322832" y="0"/>
                </a:lnTo>
                <a:lnTo>
                  <a:pt x="553338" y="594359"/>
                </a:lnTo>
                <a:lnTo>
                  <a:pt x="0" y="594359"/>
                </a:lnTo>
                <a:close/>
              </a:path>
            </a:pathLst>
          </a:custGeom>
          <a:ln w="12192">
            <a:solidFill>
              <a:srgbClr val="6F6021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6" name="object 11">
            <a:extLst>
              <a:ext uri="{FF2B5EF4-FFF2-40B4-BE49-F238E27FC236}">
                <a16:creationId xmlns:a16="http://schemas.microsoft.com/office/drawing/2014/main" id="{B6F403B3-198D-766C-7FF5-06096D396DAF}"/>
              </a:ext>
            </a:extLst>
          </p:cNvPr>
          <p:cNvSpPr/>
          <p:nvPr/>
        </p:nvSpPr>
        <p:spPr>
          <a:xfrm>
            <a:off x="1789183" y="3905354"/>
            <a:ext cx="779145" cy="939165"/>
          </a:xfrm>
          <a:custGeom>
            <a:avLst/>
            <a:gdLst/>
            <a:ahLst/>
            <a:cxnLst/>
            <a:rect l="l" t="t" r="r" b="b"/>
            <a:pathLst>
              <a:path w="779145" h="939164">
                <a:moveTo>
                  <a:pt x="778763" y="0"/>
                </a:moveTo>
                <a:lnTo>
                  <a:pt x="0" y="593343"/>
                </a:lnTo>
                <a:lnTo>
                  <a:pt x="0" y="938783"/>
                </a:lnTo>
                <a:lnTo>
                  <a:pt x="778763" y="345439"/>
                </a:lnTo>
                <a:lnTo>
                  <a:pt x="778763" y="0"/>
                </a:lnTo>
                <a:close/>
              </a:path>
            </a:pathLst>
          </a:custGeom>
          <a:solidFill>
            <a:srgbClr val="CCB657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7" name="object 12">
            <a:extLst>
              <a:ext uri="{FF2B5EF4-FFF2-40B4-BE49-F238E27FC236}">
                <a16:creationId xmlns:a16="http://schemas.microsoft.com/office/drawing/2014/main" id="{B4F33324-81A2-6D30-47DD-7A67FD038073}"/>
              </a:ext>
            </a:extLst>
          </p:cNvPr>
          <p:cNvSpPr/>
          <p:nvPr/>
        </p:nvSpPr>
        <p:spPr>
          <a:xfrm>
            <a:off x="1789183" y="3905354"/>
            <a:ext cx="779145" cy="939165"/>
          </a:xfrm>
          <a:custGeom>
            <a:avLst/>
            <a:gdLst/>
            <a:ahLst/>
            <a:cxnLst/>
            <a:rect l="l" t="t" r="r" b="b"/>
            <a:pathLst>
              <a:path w="779145" h="939164">
                <a:moveTo>
                  <a:pt x="778763" y="0"/>
                </a:moveTo>
                <a:lnTo>
                  <a:pt x="0" y="593343"/>
                </a:lnTo>
                <a:lnTo>
                  <a:pt x="0" y="938783"/>
                </a:lnTo>
                <a:lnTo>
                  <a:pt x="778763" y="345439"/>
                </a:lnTo>
                <a:lnTo>
                  <a:pt x="778763" y="0"/>
                </a:lnTo>
                <a:close/>
              </a:path>
            </a:pathLst>
          </a:custGeom>
          <a:ln w="12192">
            <a:solidFill>
              <a:srgbClr val="6F6021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8" name="object 13">
            <a:extLst>
              <a:ext uri="{FF2B5EF4-FFF2-40B4-BE49-F238E27FC236}">
                <a16:creationId xmlns:a16="http://schemas.microsoft.com/office/drawing/2014/main" id="{E5CE242A-CD6F-B6AA-8CF8-3F65AA839201}"/>
              </a:ext>
            </a:extLst>
          </p:cNvPr>
          <p:cNvSpPr/>
          <p:nvPr/>
        </p:nvSpPr>
        <p:spPr>
          <a:xfrm>
            <a:off x="659898" y="4205582"/>
            <a:ext cx="1858010" cy="1065530"/>
          </a:xfrm>
          <a:custGeom>
            <a:avLst/>
            <a:gdLst/>
            <a:ahLst/>
            <a:cxnLst/>
            <a:rect l="l" t="t" r="r" b="b"/>
            <a:pathLst>
              <a:path w="1858009" h="1065530">
                <a:moveTo>
                  <a:pt x="0" y="1065276"/>
                </a:moveTo>
                <a:lnTo>
                  <a:pt x="1857755" y="1065276"/>
                </a:lnTo>
                <a:lnTo>
                  <a:pt x="1857755" y="0"/>
                </a:lnTo>
                <a:lnTo>
                  <a:pt x="0" y="0"/>
                </a:lnTo>
                <a:lnTo>
                  <a:pt x="0" y="1065276"/>
                </a:lnTo>
                <a:close/>
              </a:path>
            </a:pathLst>
          </a:custGeom>
          <a:solidFill>
            <a:srgbClr val="7E7E7E">
              <a:alpha val="36077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9" name="object 18">
            <a:extLst>
              <a:ext uri="{FF2B5EF4-FFF2-40B4-BE49-F238E27FC236}">
                <a16:creationId xmlns:a16="http://schemas.microsoft.com/office/drawing/2014/main" id="{E00C02E3-A945-AC3C-8DDF-4BF7E88C3196}"/>
              </a:ext>
            </a:extLst>
          </p:cNvPr>
          <p:cNvSpPr/>
          <p:nvPr/>
        </p:nvSpPr>
        <p:spPr>
          <a:xfrm>
            <a:off x="458730" y="5106266"/>
            <a:ext cx="544195" cy="342900"/>
          </a:xfrm>
          <a:custGeom>
            <a:avLst/>
            <a:gdLst/>
            <a:ahLst/>
            <a:cxnLst/>
            <a:rect l="l" t="t" r="r" b="b"/>
            <a:pathLst>
              <a:path w="544195" h="342900">
                <a:moveTo>
                  <a:pt x="0" y="342900"/>
                </a:moveTo>
                <a:lnTo>
                  <a:pt x="544068" y="342900"/>
                </a:lnTo>
                <a:lnTo>
                  <a:pt x="544068" y="0"/>
                </a:lnTo>
                <a:lnTo>
                  <a:pt x="0" y="0"/>
                </a:lnTo>
                <a:lnTo>
                  <a:pt x="0" y="342900"/>
                </a:lnTo>
                <a:close/>
              </a:path>
            </a:pathLst>
          </a:custGeom>
          <a:solidFill>
            <a:srgbClr val="CCB657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0" name="object 19">
            <a:extLst>
              <a:ext uri="{FF2B5EF4-FFF2-40B4-BE49-F238E27FC236}">
                <a16:creationId xmlns:a16="http://schemas.microsoft.com/office/drawing/2014/main" id="{0ED35790-2683-BB1F-331A-34862F355D64}"/>
              </a:ext>
            </a:extLst>
          </p:cNvPr>
          <p:cNvSpPr/>
          <p:nvPr/>
        </p:nvSpPr>
        <p:spPr>
          <a:xfrm>
            <a:off x="458730" y="5106266"/>
            <a:ext cx="544195" cy="342900"/>
          </a:xfrm>
          <a:custGeom>
            <a:avLst/>
            <a:gdLst/>
            <a:ahLst/>
            <a:cxnLst/>
            <a:rect l="l" t="t" r="r" b="b"/>
            <a:pathLst>
              <a:path w="544195" h="342900">
                <a:moveTo>
                  <a:pt x="0" y="342900"/>
                </a:moveTo>
                <a:lnTo>
                  <a:pt x="544068" y="342900"/>
                </a:lnTo>
                <a:lnTo>
                  <a:pt x="544068" y="0"/>
                </a:lnTo>
                <a:lnTo>
                  <a:pt x="0" y="0"/>
                </a:lnTo>
                <a:lnTo>
                  <a:pt x="0" y="342900"/>
                </a:lnTo>
                <a:close/>
              </a:path>
            </a:pathLst>
          </a:custGeom>
          <a:ln w="12192">
            <a:solidFill>
              <a:srgbClr val="6F6021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1" name="object 20">
            <a:extLst>
              <a:ext uri="{FF2B5EF4-FFF2-40B4-BE49-F238E27FC236}">
                <a16:creationId xmlns:a16="http://schemas.microsoft.com/office/drawing/2014/main" id="{C74C0B99-9868-5B85-03B4-95E6CF78D9A3}"/>
              </a:ext>
            </a:extLst>
          </p:cNvPr>
          <p:cNvSpPr/>
          <p:nvPr/>
        </p:nvSpPr>
        <p:spPr>
          <a:xfrm>
            <a:off x="458730" y="4511906"/>
            <a:ext cx="1324610" cy="594360"/>
          </a:xfrm>
          <a:custGeom>
            <a:avLst/>
            <a:gdLst/>
            <a:ahLst/>
            <a:cxnLst/>
            <a:rect l="l" t="t" r="r" b="b"/>
            <a:pathLst>
              <a:path w="1324610" h="594360">
                <a:moveTo>
                  <a:pt x="1324356" y="0"/>
                </a:moveTo>
                <a:lnTo>
                  <a:pt x="769493" y="0"/>
                </a:lnTo>
                <a:lnTo>
                  <a:pt x="0" y="594360"/>
                </a:lnTo>
                <a:lnTo>
                  <a:pt x="554863" y="594360"/>
                </a:lnTo>
                <a:lnTo>
                  <a:pt x="1324356" y="0"/>
                </a:lnTo>
                <a:close/>
              </a:path>
            </a:pathLst>
          </a:custGeom>
          <a:solidFill>
            <a:srgbClr val="CCB657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2" name="object 21">
            <a:extLst>
              <a:ext uri="{FF2B5EF4-FFF2-40B4-BE49-F238E27FC236}">
                <a16:creationId xmlns:a16="http://schemas.microsoft.com/office/drawing/2014/main" id="{0D0A668E-1248-C952-0D69-9AC115F5AEBD}"/>
              </a:ext>
            </a:extLst>
          </p:cNvPr>
          <p:cNvSpPr/>
          <p:nvPr/>
        </p:nvSpPr>
        <p:spPr>
          <a:xfrm>
            <a:off x="458730" y="4511906"/>
            <a:ext cx="1324610" cy="594360"/>
          </a:xfrm>
          <a:custGeom>
            <a:avLst/>
            <a:gdLst/>
            <a:ahLst/>
            <a:cxnLst/>
            <a:rect l="l" t="t" r="r" b="b"/>
            <a:pathLst>
              <a:path w="1324610" h="594360">
                <a:moveTo>
                  <a:pt x="0" y="594360"/>
                </a:moveTo>
                <a:lnTo>
                  <a:pt x="769493" y="0"/>
                </a:lnTo>
                <a:lnTo>
                  <a:pt x="1324356" y="0"/>
                </a:lnTo>
                <a:lnTo>
                  <a:pt x="554863" y="594360"/>
                </a:lnTo>
                <a:lnTo>
                  <a:pt x="0" y="594360"/>
                </a:lnTo>
                <a:close/>
              </a:path>
            </a:pathLst>
          </a:custGeom>
          <a:ln w="12192">
            <a:solidFill>
              <a:srgbClr val="6F6021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3" name="object 22">
            <a:extLst>
              <a:ext uri="{FF2B5EF4-FFF2-40B4-BE49-F238E27FC236}">
                <a16:creationId xmlns:a16="http://schemas.microsoft.com/office/drawing/2014/main" id="{9D87B857-066A-6AC9-C60A-5A69ADC38AAB}"/>
              </a:ext>
            </a:extLst>
          </p:cNvPr>
          <p:cNvSpPr/>
          <p:nvPr/>
        </p:nvSpPr>
        <p:spPr>
          <a:xfrm>
            <a:off x="1002798" y="4511906"/>
            <a:ext cx="780415" cy="937260"/>
          </a:xfrm>
          <a:custGeom>
            <a:avLst/>
            <a:gdLst/>
            <a:ahLst/>
            <a:cxnLst/>
            <a:rect l="l" t="t" r="r" b="b"/>
            <a:pathLst>
              <a:path w="780414" h="937260">
                <a:moveTo>
                  <a:pt x="780288" y="0"/>
                </a:moveTo>
                <a:lnTo>
                  <a:pt x="0" y="594613"/>
                </a:lnTo>
                <a:lnTo>
                  <a:pt x="0" y="937260"/>
                </a:lnTo>
                <a:lnTo>
                  <a:pt x="780288" y="342645"/>
                </a:lnTo>
                <a:lnTo>
                  <a:pt x="780288" y="0"/>
                </a:lnTo>
                <a:close/>
              </a:path>
            </a:pathLst>
          </a:custGeom>
          <a:solidFill>
            <a:srgbClr val="CCB657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4" name="object 23">
            <a:extLst>
              <a:ext uri="{FF2B5EF4-FFF2-40B4-BE49-F238E27FC236}">
                <a16:creationId xmlns:a16="http://schemas.microsoft.com/office/drawing/2014/main" id="{218D47D4-6432-730D-48B9-7A6C6E31E473}"/>
              </a:ext>
            </a:extLst>
          </p:cNvPr>
          <p:cNvSpPr/>
          <p:nvPr/>
        </p:nvSpPr>
        <p:spPr>
          <a:xfrm>
            <a:off x="1002798" y="4511906"/>
            <a:ext cx="780415" cy="937260"/>
          </a:xfrm>
          <a:custGeom>
            <a:avLst/>
            <a:gdLst/>
            <a:ahLst/>
            <a:cxnLst/>
            <a:rect l="l" t="t" r="r" b="b"/>
            <a:pathLst>
              <a:path w="780414" h="937260">
                <a:moveTo>
                  <a:pt x="780288" y="0"/>
                </a:moveTo>
                <a:lnTo>
                  <a:pt x="0" y="594613"/>
                </a:lnTo>
                <a:lnTo>
                  <a:pt x="0" y="937260"/>
                </a:lnTo>
                <a:lnTo>
                  <a:pt x="780288" y="342645"/>
                </a:lnTo>
                <a:lnTo>
                  <a:pt x="780288" y="0"/>
                </a:lnTo>
                <a:close/>
              </a:path>
            </a:pathLst>
          </a:custGeom>
          <a:ln w="12192">
            <a:solidFill>
              <a:srgbClr val="6F6021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5" name="object 33">
            <a:extLst>
              <a:ext uri="{FF2B5EF4-FFF2-40B4-BE49-F238E27FC236}">
                <a16:creationId xmlns:a16="http://schemas.microsoft.com/office/drawing/2014/main" id="{1ADEEC13-CD1C-B10C-519D-C80EDB6B6995}"/>
              </a:ext>
            </a:extLst>
          </p:cNvPr>
          <p:cNvSpPr txBox="1"/>
          <p:nvPr/>
        </p:nvSpPr>
        <p:spPr>
          <a:xfrm>
            <a:off x="1438790" y="5254855"/>
            <a:ext cx="106616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b="1" dirty="0">
                <a:latin typeface="Calibri"/>
                <a:cs typeface="Calibri"/>
              </a:rPr>
              <a:t>XY</a:t>
            </a:r>
            <a:r>
              <a:rPr sz="1200" b="1" spc="-35" dirty="0">
                <a:latin typeface="Calibri"/>
                <a:cs typeface="Calibri"/>
              </a:rPr>
              <a:t> </a:t>
            </a:r>
            <a:r>
              <a:rPr sz="1200" b="1" spc="-5" dirty="0">
                <a:latin typeface="Calibri"/>
                <a:cs typeface="Calibri"/>
              </a:rPr>
              <a:t>Cross-section</a:t>
            </a:r>
            <a:endParaRPr sz="1200">
              <a:latin typeface="Calibri"/>
              <a:cs typeface="Calibri"/>
            </a:endParaRPr>
          </a:p>
        </p:txBody>
      </p:sp>
      <p:sp>
        <p:nvSpPr>
          <p:cNvPr id="96" name="object 7">
            <a:extLst>
              <a:ext uri="{FF2B5EF4-FFF2-40B4-BE49-F238E27FC236}">
                <a16:creationId xmlns:a16="http://schemas.microsoft.com/office/drawing/2014/main" id="{BB459788-0671-D4BA-B6DB-A3544D24EA92}"/>
              </a:ext>
            </a:extLst>
          </p:cNvPr>
          <p:cNvSpPr/>
          <p:nvPr/>
        </p:nvSpPr>
        <p:spPr>
          <a:xfrm>
            <a:off x="3213753" y="3715837"/>
            <a:ext cx="3929379" cy="1902460"/>
          </a:xfrm>
          <a:custGeom>
            <a:avLst/>
            <a:gdLst/>
            <a:ahLst/>
            <a:cxnLst/>
            <a:rect l="l" t="t" r="r" b="b"/>
            <a:pathLst>
              <a:path w="3929379" h="1902460">
                <a:moveTo>
                  <a:pt x="0" y="1901952"/>
                </a:moveTo>
                <a:lnTo>
                  <a:pt x="3928872" y="1901952"/>
                </a:lnTo>
                <a:lnTo>
                  <a:pt x="3928872" y="0"/>
                </a:lnTo>
                <a:lnTo>
                  <a:pt x="0" y="0"/>
                </a:lnTo>
                <a:lnTo>
                  <a:pt x="0" y="1901952"/>
                </a:lnTo>
                <a:close/>
              </a:path>
            </a:pathLst>
          </a:custGeom>
          <a:solidFill>
            <a:srgbClr val="F1F1F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7" name="object 62">
            <a:extLst>
              <a:ext uri="{FF2B5EF4-FFF2-40B4-BE49-F238E27FC236}">
                <a16:creationId xmlns:a16="http://schemas.microsoft.com/office/drawing/2014/main" id="{13E0425E-CEDF-CBC4-B34B-0CC3951920EA}"/>
              </a:ext>
            </a:extLst>
          </p:cNvPr>
          <p:cNvSpPr/>
          <p:nvPr/>
        </p:nvSpPr>
        <p:spPr>
          <a:xfrm>
            <a:off x="4058049" y="4276669"/>
            <a:ext cx="76200" cy="986155"/>
          </a:xfrm>
          <a:custGeom>
            <a:avLst/>
            <a:gdLst/>
            <a:ahLst/>
            <a:cxnLst/>
            <a:rect l="l" t="t" r="r" b="b"/>
            <a:pathLst>
              <a:path w="76200" h="986155">
                <a:moveTo>
                  <a:pt x="31750" y="909827"/>
                </a:moveTo>
                <a:lnTo>
                  <a:pt x="0" y="909827"/>
                </a:lnTo>
                <a:lnTo>
                  <a:pt x="38100" y="986027"/>
                </a:lnTo>
                <a:lnTo>
                  <a:pt x="69850" y="922527"/>
                </a:lnTo>
                <a:lnTo>
                  <a:pt x="31750" y="922527"/>
                </a:lnTo>
                <a:lnTo>
                  <a:pt x="31750" y="909827"/>
                </a:lnTo>
                <a:close/>
              </a:path>
              <a:path w="76200" h="986155">
                <a:moveTo>
                  <a:pt x="44450" y="63500"/>
                </a:moveTo>
                <a:lnTo>
                  <a:pt x="31750" y="63500"/>
                </a:lnTo>
                <a:lnTo>
                  <a:pt x="31750" y="922527"/>
                </a:lnTo>
                <a:lnTo>
                  <a:pt x="44450" y="922527"/>
                </a:lnTo>
                <a:lnTo>
                  <a:pt x="44450" y="63500"/>
                </a:lnTo>
                <a:close/>
              </a:path>
              <a:path w="76200" h="986155">
                <a:moveTo>
                  <a:pt x="76200" y="909827"/>
                </a:moveTo>
                <a:lnTo>
                  <a:pt x="44450" y="909827"/>
                </a:lnTo>
                <a:lnTo>
                  <a:pt x="44450" y="922527"/>
                </a:lnTo>
                <a:lnTo>
                  <a:pt x="69850" y="922527"/>
                </a:lnTo>
                <a:lnTo>
                  <a:pt x="76200" y="909827"/>
                </a:lnTo>
                <a:close/>
              </a:path>
              <a:path w="76200" h="986155">
                <a:moveTo>
                  <a:pt x="38100" y="0"/>
                </a:moveTo>
                <a:lnTo>
                  <a:pt x="0" y="76200"/>
                </a:lnTo>
                <a:lnTo>
                  <a:pt x="31750" y="76200"/>
                </a:lnTo>
                <a:lnTo>
                  <a:pt x="31750" y="63500"/>
                </a:lnTo>
                <a:lnTo>
                  <a:pt x="69850" y="63500"/>
                </a:lnTo>
                <a:lnTo>
                  <a:pt x="38100" y="0"/>
                </a:lnTo>
                <a:close/>
              </a:path>
              <a:path w="76200" h="986155">
                <a:moveTo>
                  <a:pt x="69850" y="63500"/>
                </a:moveTo>
                <a:lnTo>
                  <a:pt x="44450" y="63500"/>
                </a:lnTo>
                <a:lnTo>
                  <a:pt x="44450" y="76200"/>
                </a:lnTo>
                <a:lnTo>
                  <a:pt x="76200" y="76200"/>
                </a:lnTo>
                <a:lnTo>
                  <a:pt x="69850" y="6350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8" name="object 63">
            <a:extLst>
              <a:ext uri="{FF2B5EF4-FFF2-40B4-BE49-F238E27FC236}">
                <a16:creationId xmlns:a16="http://schemas.microsoft.com/office/drawing/2014/main" id="{FDE45797-C0E3-ACE0-F66B-057BDEDB9070}"/>
              </a:ext>
            </a:extLst>
          </p:cNvPr>
          <p:cNvSpPr txBox="1"/>
          <p:nvPr/>
        </p:nvSpPr>
        <p:spPr>
          <a:xfrm>
            <a:off x="3402119" y="4503822"/>
            <a:ext cx="577850" cy="45402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R="3175" algn="ctr">
              <a:lnSpc>
                <a:spcPct val="100000"/>
              </a:lnSpc>
              <a:spcBef>
                <a:spcPts val="105"/>
              </a:spcBef>
            </a:pPr>
            <a:r>
              <a:rPr sz="1400" dirty="0">
                <a:latin typeface="Calibri"/>
                <a:cs typeface="Calibri"/>
              </a:rPr>
              <a:t>h</a:t>
            </a:r>
            <a:endParaRPr sz="1400">
              <a:latin typeface="Calibri"/>
              <a:cs typeface="Calibri"/>
            </a:endParaRPr>
          </a:p>
          <a:p>
            <a:pPr marR="5080" algn="ctr">
              <a:lnSpc>
                <a:spcPct val="100000"/>
              </a:lnSpc>
              <a:spcBef>
                <a:spcPts val="5"/>
              </a:spcBef>
            </a:pPr>
            <a:r>
              <a:rPr sz="1400" spc="-10" dirty="0">
                <a:latin typeface="Calibri"/>
                <a:cs typeface="Calibri"/>
              </a:rPr>
              <a:t>(h</a:t>
            </a:r>
            <a:r>
              <a:rPr sz="1400" dirty="0">
                <a:latin typeface="Calibri"/>
                <a:cs typeface="Calibri"/>
              </a:rPr>
              <a:t>eig</a:t>
            </a:r>
            <a:r>
              <a:rPr sz="1400" spc="-25" dirty="0">
                <a:latin typeface="Calibri"/>
                <a:cs typeface="Calibri"/>
              </a:rPr>
              <a:t>h</a:t>
            </a:r>
            <a:r>
              <a:rPr sz="1400" spc="-5" dirty="0">
                <a:latin typeface="Calibri"/>
                <a:cs typeface="Calibri"/>
              </a:rPr>
              <a:t>t</a:t>
            </a:r>
            <a:r>
              <a:rPr sz="1400" dirty="0">
                <a:latin typeface="Calibri"/>
                <a:cs typeface="Calibri"/>
              </a:rPr>
              <a:t>)</a:t>
            </a:r>
            <a:endParaRPr sz="1400">
              <a:latin typeface="Calibri"/>
              <a:cs typeface="Calibri"/>
            </a:endParaRPr>
          </a:p>
        </p:txBody>
      </p:sp>
      <p:sp>
        <p:nvSpPr>
          <p:cNvPr id="99" name="object 64">
            <a:extLst>
              <a:ext uri="{FF2B5EF4-FFF2-40B4-BE49-F238E27FC236}">
                <a16:creationId xmlns:a16="http://schemas.microsoft.com/office/drawing/2014/main" id="{ABAAA5DD-56CA-BF94-2180-F0866658B6B3}"/>
              </a:ext>
            </a:extLst>
          </p:cNvPr>
          <p:cNvSpPr/>
          <p:nvPr/>
        </p:nvSpPr>
        <p:spPr>
          <a:xfrm>
            <a:off x="4295793" y="4066357"/>
            <a:ext cx="1758314" cy="76200"/>
          </a:xfrm>
          <a:custGeom>
            <a:avLst/>
            <a:gdLst/>
            <a:ahLst/>
            <a:cxnLst/>
            <a:rect l="l" t="t" r="r" b="b"/>
            <a:pathLst>
              <a:path w="1758314" h="76200">
                <a:moveTo>
                  <a:pt x="76200" y="0"/>
                </a:moveTo>
                <a:lnTo>
                  <a:pt x="0" y="38100"/>
                </a:lnTo>
                <a:lnTo>
                  <a:pt x="76200" y="76200"/>
                </a:lnTo>
                <a:lnTo>
                  <a:pt x="76200" y="44450"/>
                </a:lnTo>
                <a:lnTo>
                  <a:pt x="63500" y="44450"/>
                </a:lnTo>
                <a:lnTo>
                  <a:pt x="63500" y="31750"/>
                </a:lnTo>
                <a:lnTo>
                  <a:pt x="76200" y="31750"/>
                </a:lnTo>
                <a:lnTo>
                  <a:pt x="76200" y="0"/>
                </a:lnTo>
                <a:close/>
              </a:path>
              <a:path w="1758314" h="76200">
                <a:moveTo>
                  <a:pt x="1682114" y="0"/>
                </a:moveTo>
                <a:lnTo>
                  <a:pt x="1682114" y="76200"/>
                </a:lnTo>
                <a:lnTo>
                  <a:pt x="1745614" y="44450"/>
                </a:lnTo>
                <a:lnTo>
                  <a:pt x="1694814" y="44450"/>
                </a:lnTo>
                <a:lnTo>
                  <a:pt x="1694814" y="31750"/>
                </a:lnTo>
                <a:lnTo>
                  <a:pt x="1745614" y="31750"/>
                </a:lnTo>
                <a:lnTo>
                  <a:pt x="1682114" y="0"/>
                </a:lnTo>
                <a:close/>
              </a:path>
              <a:path w="1758314" h="76200">
                <a:moveTo>
                  <a:pt x="76200" y="31750"/>
                </a:moveTo>
                <a:lnTo>
                  <a:pt x="63500" y="31750"/>
                </a:lnTo>
                <a:lnTo>
                  <a:pt x="63500" y="44450"/>
                </a:lnTo>
                <a:lnTo>
                  <a:pt x="76200" y="44450"/>
                </a:lnTo>
                <a:lnTo>
                  <a:pt x="76200" y="31750"/>
                </a:lnTo>
                <a:close/>
              </a:path>
              <a:path w="1758314" h="76200">
                <a:moveTo>
                  <a:pt x="1682114" y="31750"/>
                </a:moveTo>
                <a:lnTo>
                  <a:pt x="76200" y="31750"/>
                </a:lnTo>
                <a:lnTo>
                  <a:pt x="76200" y="44450"/>
                </a:lnTo>
                <a:lnTo>
                  <a:pt x="1682114" y="44450"/>
                </a:lnTo>
                <a:lnTo>
                  <a:pt x="1682114" y="31750"/>
                </a:lnTo>
                <a:close/>
              </a:path>
              <a:path w="1758314" h="76200">
                <a:moveTo>
                  <a:pt x="1745614" y="31750"/>
                </a:moveTo>
                <a:lnTo>
                  <a:pt x="1694814" y="31750"/>
                </a:lnTo>
                <a:lnTo>
                  <a:pt x="1694814" y="44450"/>
                </a:lnTo>
                <a:lnTo>
                  <a:pt x="1745614" y="44450"/>
                </a:lnTo>
                <a:lnTo>
                  <a:pt x="1758314" y="38100"/>
                </a:lnTo>
                <a:lnTo>
                  <a:pt x="1745614" y="3175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0" name="object 65">
            <a:extLst>
              <a:ext uri="{FF2B5EF4-FFF2-40B4-BE49-F238E27FC236}">
                <a16:creationId xmlns:a16="http://schemas.microsoft.com/office/drawing/2014/main" id="{A1EF013C-5123-D9A7-DC76-FEFD731E96E2}"/>
              </a:ext>
            </a:extLst>
          </p:cNvPr>
          <p:cNvSpPr txBox="1"/>
          <p:nvPr/>
        </p:nvSpPr>
        <p:spPr>
          <a:xfrm>
            <a:off x="4815731" y="3825642"/>
            <a:ext cx="733425" cy="24002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5"/>
              </a:spcBef>
            </a:pPr>
            <a:r>
              <a:rPr sz="1400" spc="5" dirty="0">
                <a:latin typeface="Calibri"/>
                <a:cs typeface="Calibri"/>
              </a:rPr>
              <a:t>W</a:t>
            </a:r>
            <a:r>
              <a:rPr sz="1400" spc="-65" dirty="0">
                <a:latin typeface="Calibri"/>
                <a:cs typeface="Calibri"/>
              </a:rPr>
              <a:t> </a:t>
            </a:r>
            <a:r>
              <a:rPr sz="1400" spc="-5" dirty="0">
                <a:latin typeface="Calibri"/>
                <a:cs typeface="Calibri"/>
              </a:rPr>
              <a:t>(width)</a:t>
            </a:r>
            <a:endParaRPr sz="1400" dirty="0">
              <a:latin typeface="Calibri"/>
              <a:cs typeface="Calibri"/>
            </a:endParaRPr>
          </a:p>
        </p:txBody>
      </p:sp>
      <p:sp>
        <p:nvSpPr>
          <p:cNvPr id="101" name="object 73">
            <a:extLst>
              <a:ext uri="{FF2B5EF4-FFF2-40B4-BE49-F238E27FC236}">
                <a16:creationId xmlns:a16="http://schemas.microsoft.com/office/drawing/2014/main" id="{4C5C0871-D9B5-E642-7661-FFBCAD75720B}"/>
              </a:ext>
            </a:extLst>
          </p:cNvPr>
          <p:cNvSpPr txBox="1"/>
          <p:nvPr/>
        </p:nvSpPr>
        <p:spPr>
          <a:xfrm>
            <a:off x="4295793" y="4276669"/>
            <a:ext cx="1758950" cy="986155"/>
          </a:xfrm>
          <a:prstGeom prst="rect">
            <a:avLst/>
          </a:prstGeom>
          <a:solidFill>
            <a:srgbClr val="CCB657"/>
          </a:solidFill>
        </p:spPr>
        <p:txBody>
          <a:bodyPr vert="horz" wrap="square" lIns="0" tIns="254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20"/>
              </a:spcBef>
            </a:pPr>
            <a:endParaRPr sz="2350" dirty="0">
              <a:latin typeface="Times New Roman"/>
              <a:cs typeface="Times New Roman"/>
            </a:endParaRPr>
          </a:p>
          <a:p>
            <a:pPr marL="18415" algn="ctr">
              <a:lnSpc>
                <a:spcPct val="100000"/>
              </a:lnSpc>
            </a:pPr>
            <a:r>
              <a:rPr sz="1600" b="1" spc="-10" dirty="0">
                <a:latin typeface="Calibri"/>
                <a:cs typeface="Calibri"/>
              </a:rPr>
              <a:t>Core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102" name="object 74">
            <a:extLst>
              <a:ext uri="{FF2B5EF4-FFF2-40B4-BE49-F238E27FC236}">
                <a16:creationId xmlns:a16="http://schemas.microsoft.com/office/drawing/2014/main" id="{10CC4DBA-05F4-4CDC-BA0E-6200AF622CA9}"/>
              </a:ext>
            </a:extLst>
          </p:cNvPr>
          <p:cNvSpPr txBox="1"/>
          <p:nvPr/>
        </p:nvSpPr>
        <p:spPr>
          <a:xfrm>
            <a:off x="6294976" y="4631165"/>
            <a:ext cx="741045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95"/>
              </a:spcBef>
            </a:pPr>
            <a:r>
              <a:rPr sz="1600" b="1" spc="-10" dirty="0">
                <a:latin typeface="Calibri"/>
                <a:cs typeface="Calibri"/>
              </a:rPr>
              <a:t>Cladding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103" name="Flecha: a la derecha 102">
            <a:extLst>
              <a:ext uri="{FF2B5EF4-FFF2-40B4-BE49-F238E27FC236}">
                <a16:creationId xmlns:a16="http://schemas.microsoft.com/office/drawing/2014/main" id="{9104F8E7-45F4-CD32-78F2-E3303B105AF2}"/>
              </a:ext>
            </a:extLst>
          </p:cNvPr>
          <p:cNvSpPr/>
          <p:nvPr/>
        </p:nvSpPr>
        <p:spPr>
          <a:xfrm>
            <a:off x="2652837" y="4587205"/>
            <a:ext cx="390281" cy="177451"/>
          </a:xfrm>
          <a:prstGeom prst="rightArrow">
            <a:avLst/>
          </a:prstGeom>
          <a:solidFill>
            <a:schemeClr val="accent2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11" name="object 7">
            <a:extLst>
              <a:ext uri="{FF2B5EF4-FFF2-40B4-BE49-F238E27FC236}">
                <a16:creationId xmlns:a16="http://schemas.microsoft.com/office/drawing/2014/main" id="{06801468-6F27-A16A-64E3-D7AD4B6B6B96}"/>
              </a:ext>
            </a:extLst>
          </p:cNvPr>
          <p:cNvSpPr/>
          <p:nvPr/>
        </p:nvSpPr>
        <p:spPr>
          <a:xfrm>
            <a:off x="7749273" y="3715837"/>
            <a:ext cx="3929379" cy="1902460"/>
          </a:xfrm>
          <a:custGeom>
            <a:avLst/>
            <a:gdLst/>
            <a:ahLst/>
            <a:cxnLst/>
            <a:rect l="l" t="t" r="r" b="b"/>
            <a:pathLst>
              <a:path w="3929379" h="1902460">
                <a:moveTo>
                  <a:pt x="0" y="1901952"/>
                </a:moveTo>
                <a:lnTo>
                  <a:pt x="3928872" y="1901952"/>
                </a:lnTo>
                <a:lnTo>
                  <a:pt x="3928872" y="0"/>
                </a:lnTo>
                <a:lnTo>
                  <a:pt x="0" y="0"/>
                </a:lnTo>
                <a:lnTo>
                  <a:pt x="0" y="1901952"/>
                </a:lnTo>
                <a:close/>
              </a:path>
            </a:pathLst>
          </a:custGeom>
          <a:solidFill>
            <a:srgbClr val="F1F1F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4" name="object 64">
            <a:extLst>
              <a:ext uri="{FF2B5EF4-FFF2-40B4-BE49-F238E27FC236}">
                <a16:creationId xmlns:a16="http://schemas.microsoft.com/office/drawing/2014/main" id="{D9E5D738-CA47-1898-E0D8-DFBC514F5A50}"/>
              </a:ext>
            </a:extLst>
          </p:cNvPr>
          <p:cNvSpPr/>
          <p:nvPr/>
        </p:nvSpPr>
        <p:spPr>
          <a:xfrm>
            <a:off x="8831313" y="4066357"/>
            <a:ext cx="1758314" cy="76200"/>
          </a:xfrm>
          <a:custGeom>
            <a:avLst/>
            <a:gdLst/>
            <a:ahLst/>
            <a:cxnLst/>
            <a:rect l="l" t="t" r="r" b="b"/>
            <a:pathLst>
              <a:path w="1758314" h="76200">
                <a:moveTo>
                  <a:pt x="76200" y="0"/>
                </a:moveTo>
                <a:lnTo>
                  <a:pt x="0" y="38100"/>
                </a:lnTo>
                <a:lnTo>
                  <a:pt x="76200" y="76200"/>
                </a:lnTo>
                <a:lnTo>
                  <a:pt x="76200" y="44450"/>
                </a:lnTo>
                <a:lnTo>
                  <a:pt x="63500" y="44450"/>
                </a:lnTo>
                <a:lnTo>
                  <a:pt x="63500" y="31750"/>
                </a:lnTo>
                <a:lnTo>
                  <a:pt x="76200" y="31750"/>
                </a:lnTo>
                <a:lnTo>
                  <a:pt x="76200" y="0"/>
                </a:lnTo>
                <a:close/>
              </a:path>
              <a:path w="1758314" h="76200">
                <a:moveTo>
                  <a:pt x="1682114" y="0"/>
                </a:moveTo>
                <a:lnTo>
                  <a:pt x="1682114" y="76200"/>
                </a:lnTo>
                <a:lnTo>
                  <a:pt x="1745614" y="44450"/>
                </a:lnTo>
                <a:lnTo>
                  <a:pt x="1694814" y="44450"/>
                </a:lnTo>
                <a:lnTo>
                  <a:pt x="1694814" y="31750"/>
                </a:lnTo>
                <a:lnTo>
                  <a:pt x="1745614" y="31750"/>
                </a:lnTo>
                <a:lnTo>
                  <a:pt x="1682114" y="0"/>
                </a:lnTo>
                <a:close/>
              </a:path>
              <a:path w="1758314" h="76200">
                <a:moveTo>
                  <a:pt x="76200" y="31750"/>
                </a:moveTo>
                <a:lnTo>
                  <a:pt x="63500" y="31750"/>
                </a:lnTo>
                <a:lnTo>
                  <a:pt x="63500" y="44450"/>
                </a:lnTo>
                <a:lnTo>
                  <a:pt x="76200" y="44450"/>
                </a:lnTo>
                <a:lnTo>
                  <a:pt x="76200" y="31750"/>
                </a:lnTo>
                <a:close/>
              </a:path>
              <a:path w="1758314" h="76200">
                <a:moveTo>
                  <a:pt x="1682114" y="31750"/>
                </a:moveTo>
                <a:lnTo>
                  <a:pt x="76200" y="31750"/>
                </a:lnTo>
                <a:lnTo>
                  <a:pt x="76200" y="44450"/>
                </a:lnTo>
                <a:lnTo>
                  <a:pt x="1682114" y="44450"/>
                </a:lnTo>
                <a:lnTo>
                  <a:pt x="1682114" y="31750"/>
                </a:lnTo>
                <a:close/>
              </a:path>
              <a:path w="1758314" h="76200">
                <a:moveTo>
                  <a:pt x="1745614" y="31750"/>
                </a:moveTo>
                <a:lnTo>
                  <a:pt x="1694814" y="31750"/>
                </a:lnTo>
                <a:lnTo>
                  <a:pt x="1694814" y="44450"/>
                </a:lnTo>
                <a:lnTo>
                  <a:pt x="1745614" y="44450"/>
                </a:lnTo>
                <a:lnTo>
                  <a:pt x="1758314" y="38100"/>
                </a:lnTo>
                <a:lnTo>
                  <a:pt x="1745614" y="3175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5" name="object 65">
            <a:extLst>
              <a:ext uri="{FF2B5EF4-FFF2-40B4-BE49-F238E27FC236}">
                <a16:creationId xmlns:a16="http://schemas.microsoft.com/office/drawing/2014/main" id="{74A4CAE1-BC33-1BCD-6F24-54F1DFA8AEDB}"/>
              </a:ext>
            </a:extLst>
          </p:cNvPr>
          <p:cNvSpPr txBox="1"/>
          <p:nvPr/>
        </p:nvSpPr>
        <p:spPr>
          <a:xfrm>
            <a:off x="9351251" y="3825642"/>
            <a:ext cx="733425" cy="24002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5"/>
              </a:spcBef>
            </a:pPr>
            <a:r>
              <a:rPr sz="1400" spc="5" dirty="0">
                <a:latin typeface="Calibri"/>
                <a:cs typeface="Calibri"/>
              </a:rPr>
              <a:t>W</a:t>
            </a:r>
            <a:r>
              <a:rPr sz="1400" spc="-65" dirty="0">
                <a:latin typeface="Calibri"/>
                <a:cs typeface="Calibri"/>
              </a:rPr>
              <a:t> </a:t>
            </a:r>
            <a:r>
              <a:rPr sz="1400" spc="-5" dirty="0">
                <a:latin typeface="Calibri"/>
                <a:cs typeface="Calibri"/>
              </a:rPr>
              <a:t>(width)</a:t>
            </a:r>
            <a:endParaRPr sz="1400" dirty="0">
              <a:latin typeface="Calibri"/>
              <a:cs typeface="Calibri"/>
            </a:endParaRPr>
          </a:p>
        </p:txBody>
      </p:sp>
      <p:sp>
        <p:nvSpPr>
          <p:cNvPr id="116" name="object 73">
            <a:extLst>
              <a:ext uri="{FF2B5EF4-FFF2-40B4-BE49-F238E27FC236}">
                <a16:creationId xmlns:a16="http://schemas.microsoft.com/office/drawing/2014/main" id="{CC9D2269-0CA8-143F-4E45-F3AF594A2ED3}"/>
              </a:ext>
            </a:extLst>
          </p:cNvPr>
          <p:cNvSpPr txBox="1"/>
          <p:nvPr/>
        </p:nvSpPr>
        <p:spPr>
          <a:xfrm>
            <a:off x="8831313" y="4276669"/>
            <a:ext cx="1758950" cy="986155"/>
          </a:xfrm>
          <a:prstGeom prst="rect">
            <a:avLst/>
          </a:prstGeom>
          <a:solidFill>
            <a:srgbClr val="CCB657"/>
          </a:solidFill>
        </p:spPr>
        <p:txBody>
          <a:bodyPr vert="horz" wrap="square" lIns="0" tIns="254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20"/>
              </a:spcBef>
            </a:pPr>
            <a:endParaRPr sz="2350" dirty="0">
              <a:latin typeface="Times New Roman"/>
              <a:cs typeface="Times New Roman"/>
            </a:endParaRPr>
          </a:p>
          <a:p>
            <a:pPr marL="18415" algn="ctr">
              <a:lnSpc>
                <a:spcPct val="100000"/>
              </a:lnSpc>
            </a:pPr>
            <a:r>
              <a:rPr sz="1600" b="1" spc="-10" dirty="0">
                <a:latin typeface="Calibri"/>
                <a:cs typeface="Calibri"/>
              </a:rPr>
              <a:t>Core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117" name="object 74">
            <a:extLst>
              <a:ext uri="{FF2B5EF4-FFF2-40B4-BE49-F238E27FC236}">
                <a16:creationId xmlns:a16="http://schemas.microsoft.com/office/drawing/2014/main" id="{8A3332FF-25D4-1955-323F-BBD1D30324AC}"/>
              </a:ext>
            </a:extLst>
          </p:cNvPr>
          <p:cNvSpPr txBox="1"/>
          <p:nvPr/>
        </p:nvSpPr>
        <p:spPr>
          <a:xfrm>
            <a:off x="10830496" y="4631165"/>
            <a:ext cx="741045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95"/>
              </a:spcBef>
            </a:pPr>
            <a:r>
              <a:rPr sz="1600" b="1" spc="-10" dirty="0">
                <a:latin typeface="Calibri"/>
                <a:cs typeface="Calibri"/>
              </a:rPr>
              <a:t>Cladding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120" name="object 73">
            <a:extLst>
              <a:ext uri="{FF2B5EF4-FFF2-40B4-BE49-F238E27FC236}">
                <a16:creationId xmlns:a16="http://schemas.microsoft.com/office/drawing/2014/main" id="{C699977C-9138-F9B9-E43D-0CCB01AEB75F}"/>
              </a:ext>
            </a:extLst>
          </p:cNvPr>
          <p:cNvSpPr txBox="1"/>
          <p:nvPr/>
        </p:nvSpPr>
        <p:spPr>
          <a:xfrm>
            <a:off x="7749273" y="4983731"/>
            <a:ext cx="3906179" cy="610424"/>
          </a:xfrm>
          <a:prstGeom prst="rect">
            <a:avLst/>
          </a:prstGeom>
          <a:solidFill>
            <a:srgbClr val="CCB657"/>
          </a:solidFill>
        </p:spPr>
        <p:txBody>
          <a:bodyPr vert="horz" wrap="square" lIns="0" tIns="254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20"/>
              </a:spcBef>
            </a:pPr>
            <a:endParaRPr lang="es-ES" sz="2350" dirty="0">
              <a:latin typeface="Times New Roman"/>
              <a:cs typeface="Times New Roman"/>
            </a:endParaRPr>
          </a:p>
          <a:p>
            <a:pPr marL="18415">
              <a:lnSpc>
                <a:spcPct val="100000"/>
              </a:lnSpc>
            </a:pPr>
            <a:r>
              <a:rPr lang="es-ES" sz="1600" b="1" spc="-10" dirty="0" err="1">
                <a:latin typeface="Calibri"/>
                <a:cs typeface="Calibri"/>
              </a:rPr>
              <a:t>Slab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112" name="object 62">
            <a:extLst>
              <a:ext uri="{FF2B5EF4-FFF2-40B4-BE49-F238E27FC236}">
                <a16:creationId xmlns:a16="http://schemas.microsoft.com/office/drawing/2014/main" id="{04561701-4B4F-F208-98F6-2DAB5C1138D3}"/>
              </a:ext>
            </a:extLst>
          </p:cNvPr>
          <p:cNvSpPr/>
          <p:nvPr/>
        </p:nvSpPr>
        <p:spPr>
          <a:xfrm>
            <a:off x="8933783" y="4287133"/>
            <a:ext cx="56259" cy="694989"/>
          </a:xfrm>
          <a:custGeom>
            <a:avLst/>
            <a:gdLst/>
            <a:ahLst/>
            <a:cxnLst/>
            <a:rect l="l" t="t" r="r" b="b"/>
            <a:pathLst>
              <a:path w="76200" h="986155">
                <a:moveTo>
                  <a:pt x="31750" y="909827"/>
                </a:moveTo>
                <a:lnTo>
                  <a:pt x="0" y="909827"/>
                </a:lnTo>
                <a:lnTo>
                  <a:pt x="38100" y="986027"/>
                </a:lnTo>
                <a:lnTo>
                  <a:pt x="69850" y="922527"/>
                </a:lnTo>
                <a:lnTo>
                  <a:pt x="31750" y="922527"/>
                </a:lnTo>
                <a:lnTo>
                  <a:pt x="31750" y="909827"/>
                </a:lnTo>
                <a:close/>
              </a:path>
              <a:path w="76200" h="986155">
                <a:moveTo>
                  <a:pt x="44450" y="63500"/>
                </a:moveTo>
                <a:lnTo>
                  <a:pt x="31750" y="63500"/>
                </a:lnTo>
                <a:lnTo>
                  <a:pt x="31750" y="922527"/>
                </a:lnTo>
                <a:lnTo>
                  <a:pt x="44450" y="922527"/>
                </a:lnTo>
                <a:lnTo>
                  <a:pt x="44450" y="63500"/>
                </a:lnTo>
                <a:close/>
              </a:path>
              <a:path w="76200" h="986155">
                <a:moveTo>
                  <a:pt x="76200" y="909827"/>
                </a:moveTo>
                <a:lnTo>
                  <a:pt x="44450" y="909827"/>
                </a:lnTo>
                <a:lnTo>
                  <a:pt x="44450" y="922527"/>
                </a:lnTo>
                <a:lnTo>
                  <a:pt x="69850" y="922527"/>
                </a:lnTo>
                <a:lnTo>
                  <a:pt x="76200" y="909827"/>
                </a:lnTo>
                <a:close/>
              </a:path>
              <a:path w="76200" h="986155">
                <a:moveTo>
                  <a:pt x="38100" y="0"/>
                </a:moveTo>
                <a:lnTo>
                  <a:pt x="0" y="76200"/>
                </a:lnTo>
                <a:lnTo>
                  <a:pt x="31750" y="76200"/>
                </a:lnTo>
                <a:lnTo>
                  <a:pt x="31750" y="63500"/>
                </a:lnTo>
                <a:lnTo>
                  <a:pt x="69850" y="63500"/>
                </a:lnTo>
                <a:lnTo>
                  <a:pt x="38100" y="0"/>
                </a:lnTo>
                <a:close/>
              </a:path>
              <a:path w="76200" h="986155">
                <a:moveTo>
                  <a:pt x="69850" y="63500"/>
                </a:moveTo>
                <a:lnTo>
                  <a:pt x="44450" y="63500"/>
                </a:lnTo>
                <a:lnTo>
                  <a:pt x="44450" y="76200"/>
                </a:lnTo>
                <a:lnTo>
                  <a:pt x="76200" y="76200"/>
                </a:lnTo>
                <a:lnTo>
                  <a:pt x="69850" y="6350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1" name="object 62">
            <a:extLst>
              <a:ext uri="{FF2B5EF4-FFF2-40B4-BE49-F238E27FC236}">
                <a16:creationId xmlns:a16="http://schemas.microsoft.com/office/drawing/2014/main" id="{CCA3B0D6-0C9E-B4A6-FA43-1AB5F1821674}"/>
              </a:ext>
            </a:extLst>
          </p:cNvPr>
          <p:cNvSpPr/>
          <p:nvPr/>
        </p:nvSpPr>
        <p:spPr>
          <a:xfrm>
            <a:off x="8591080" y="4982122"/>
            <a:ext cx="55008" cy="613272"/>
          </a:xfrm>
          <a:custGeom>
            <a:avLst/>
            <a:gdLst/>
            <a:ahLst/>
            <a:cxnLst/>
            <a:rect l="l" t="t" r="r" b="b"/>
            <a:pathLst>
              <a:path w="76200" h="986155">
                <a:moveTo>
                  <a:pt x="31750" y="909827"/>
                </a:moveTo>
                <a:lnTo>
                  <a:pt x="0" y="909827"/>
                </a:lnTo>
                <a:lnTo>
                  <a:pt x="38100" y="986027"/>
                </a:lnTo>
                <a:lnTo>
                  <a:pt x="69850" y="922527"/>
                </a:lnTo>
                <a:lnTo>
                  <a:pt x="31750" y="922527"/>
                </a:lnTo>
                <a:lnTo>
                  <a:pt x="31750" y="909827"/>
                </a:lnTo>
                <a:close/>
              </a:path>
              <a:path w="76200" h="986155">
                <a:moveTo>
                  <a:pt x="44450" y="63500"/>
                </a:moveTo>
                <a:lnTo>
                  <a:pt x="31750" y="63500"/>
                </a:lnTo>
                <a:lnTo>
                  <a:pt x="31750" y="922527"/>
                </a:lnTo>
                <a:lnTo>
                  <a:pt x="44450" y="922527"/>
                </a:lnTo>
                <a:lnTo>
                  <a:pt x="44450" y="63500"/>
                </a:lnTo>
                <a:close/>
              </a:path>
              <a:path w="76200" h="986155">
                <a:moveTo>
                  <a:pt x="76200" y="909827"/>
                </a:moveTo>
                <a:lnTo>
                  <a:pt x="44450" y="909827"/>
                </a:lnTo>
                <a:lnTo>
                  <a:pt x="44450" y="922527"/>
                </a:lnTo>
                <a:lnTo>
                  <a:pt x="69850" y="922527"/>
                </a:lnTo>
                <a:lnTo>
                  <a:pt x="76200" y="909827"/>
                </a:lnTo>
                <a:close/>
              </a:path>
              <a:path w="76200" h="986155">
                <a:moveTo>
                  <a:pt x="38100" y="0"/>
                </a:moveTo>
                <a:lnTo>
                  <a:pt x="0" y="76200"/>
                </a:lnTo>
                <a:lnTo>
                  <a:pt x="31750" y="76200"/>
                </a:lnTo>
                <a:lnTo>
                  <a:pt x="31750" y="63500"/>
                </a:lnTo>
                <a:lnTo>
                  <a:pt x="69850" y="63500"/>
                </a:lnTo>
                <a:lnTo>
                  <a:pt x="38100" y="0"/>
                </a:lnTo>
                <a:close/>
              </a:path>
              <a:path w="76200" h="986155">
                <a:moveTo>
                  <a:pt x="69850" y="63500"/>
                </a:moveTo>
                <a:lnTo>
                  <a:pt x="44450" y="63500"/>
                </a:lnTo>
                <a:lnTo>
                  <a:pt x="44450" y="76200"/>
                </a:lnTo>
                <a:lnTo>
                  <a:pt x="76200" y="76200"/>
                </a:lnTo>
                <a:lnTo>
                  <a:pt x="69850" y="6350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3" name="object 63">
            <a:extLst>
              <a:ext uri="{FF2B5EF4-FFF2-40B4-BE49-F238E27FC236}">
                <a16:creationId xmlns:a16="http://schemas.microsoft.com/office/drawing/2014/main" id="{6394166D-0522-24AD-E666-39FE8A3FDC24}"/>
              </a:ext>
            </a:extLst>
          </p:cNvPr>
          <p:cNvSpPr txBox="1"/>
          <p:nvPr/>
        </p:nvSpPr>
        <p:spPr>
          <a:xfrm>
            <a:off x="8709867" y="5180039"/>
            <a:ext cx="674053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R="3175">
              <a:lnSpc>
                <a:spcPct val="100000"/>
              </a:lnSpc>
              <a:spcBef>
                <a:spcPts val="105"/>
              </a:spcBef>
            </a:pPr>
            <a:r>
              <a:rPr lang="es-ES" sz="1400" dirty="0" err="1">
                <a:latin typeface="Calibri"/>
                <a:cs typeface="Calibri"/>
              </a:rPr>
              <a:t>h_slab</a:t>
            </a:r>
            <a:endParaRPr sz="1400" dirty="0">
              <a:latin typeface="Calibri"/>
              <a:cs typeface="Calibri"/>
            </a:endParaRPr>
          </a:p>
        </p:txBody>
      </p:sp>
      <p:sp>
        <p:nvSpPr>
          <p:cNvPr id="122" name="object 63">
            <a:extLst>
              <a:ext uri="{FF2B5EF4-FFF2-40B4-BE49-F238E27FC236}">
                <a16:creationId xmlns:a16="http://schemas.microsoft.com/office/drawing/2014/main" id="{B589EB7D-B26E-4239-A5C2-F96DBBE82162}"/>
              </a:ext>
            </a:extLst>
          </p:cNvPr>
          <p:cNvSpPr txBox="1"/>
          <p:nvPr/>
        </p:nvSpPr>
        <p:spPr>
          <a:xfrm>
            <a:off x="9064251" y="4282997"/>
            <a:ext cx="1380175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R="3175">
              <a:lnSpc>
                <a:spcPct val="100000"/>
              </a:lnSpc>
              <a:spcBef>
                <a:spcPts val="105"/>
              </a:spcBef>
            </a:pPr>
            <a:r>
              <a:rPr lang="es-ES" sz="1400" spc="-10" dirty="0" err="1">
                <a:latin typeface="Calibri"/>
                <a:cs typeface="Calibri"/>
              </a:rPr>
              <a:t>h_core</a:t>
            </a:r>
            <a:r>
              <a:rPr lang="es-ES" sz="1400" spc="-10" dirty="0">
                <a:latin typeface="Calibri"/>
                <a:cs typeface="Calibri"/>
              </a:rPr>
              <a:t> </a:t>
            </a:r>
            <a:endParaRPr sz="1400" dirty="0">
              <a:latin typeface="Calibri"/>
              <a:cs typeface="Calibri"/>
            </a:endParaRP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57D9AFBE-EF33-9078-9CE3-5C8B079B0C36}"/>
              </a:ext>
            </a:extLst>
          </p:cNvPr>
          <p:cNvSpPr txBox="1"/>
          <p:nvPr/>
        </p:nvSpPr>
        <p:spPr>
          <a:xfrm>
            <a:off x="9664364" y="5549983"/>
            <a:ext cx="19805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shallow</a:t>
            </a:r>
            <a:r>
              <a:rPr lang="en-US" dirty="0"/>
              <a:t> waveguide</a:t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7336B5D8-2D70-3E7A-336D-AF55EC49DEB8}"/>
              </a:ext>
            </a:extLst>
          </p:cNvPr>
          <p:cNvSpPr txBox="1"/>
          <p:nvPr/>
        </p:nvSpPr>
        <p:spPr>
          <a:xfrm>
            <a:off x="5280887" y="5549983"/>
            <a:ext cx="215755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b="1" dirty="0"/>
              <a:t>deep</a:t>
            </a:r>
            <a:r>
              <a:rPr lang="en-US" dirty="0"/>
              <a:t> waveguide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7CAD427B-6097-910F-3ED4-DE28E90E11E0}"/>
              </a:ext>
            </a:extLst>
          </p:cNvPr>
          <p:cNvSpPr txBox="1"/>
          <p:nvPr/>
        </p:nvSpPr>
        <p:spPr>
          <a:xfrm>
            <a:off x="7901955" y="400263"/>
            <a:ext cx="4104330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400" dirty="0">
                <a:solidFill>
                  <a:srgbClr val="FF0000"/>
                </a:solidFill>
              </a:rPr>
              <a:t>El índice efectivo es el índice que siente el modo al propagarse por la guía. Si solo esta confiando en el </a:t>
            </a:r>
            <a:r>
              <a:rPr lang="es-ES" sz="1400" dirty="0" err="1">
                <a:solidFill>
                  <a:srgbClr val="FF0000"/>
                </a:solidFill>
              </a:rPr>
              <a:t>core</a:t>
            </a:r>
            <a:r>
              <a:rPr lang="es-ES" sz="1400" dirty="0">
                <a:solidFill>
                  <a:srgbClr val="FF0000"/>
                </a:solidFill>
              </a:rPr>
              <a:t> </a:t>
            </a:r>
            <a:r>
              <a:rPr lang="es-ES" sz="1400" dirty="0" err="1">
                <a:solidFill>
                  <a:srgbClr val="FF0000"/>
                </a:solidFill>
              </a:rPr>
              <a:t>tndra</a:t>
            </a:r>
            <a:r>
              <a:rPr lang="es-ES" sz="1400" dirty="0">
                <a:solidFill>
                  <a:srgbClr val="FF0000"/>
                </a:solidFill>
              </a:rPr>
              <a:t> en el </a:t>
            </a:r>
            <a:r>
              <a:rPr lang="es-ES" sz="1400" dirty="0" err="1">
                <a:solidFill>
                  <a:srgbClr val="FF0000"/>
                </a:solidFill>
              </a:rPr>
              <a:t>core</a:t>
            </a:r>
            <a:r>
              <a:rPr lang="es-ES" sz="1400" dirty="0">
                <a:solidFill>
                  <a:srgbClr val="FF0000"/>
                </a:solidFill>
              </a:rPr>
              <a:t> y si esta full en la cubierta será el índice del </a:t>
            </a:r>
            <a:r>
              <a:rPr lang="es-ES" sz="1400" dirty="0" err="1">
                <a:solidFill>
                  <a:srgbClr val="FF0000"/>
                </a:solidFill>
              </a:rPr>
              <a:t>cladding</a:t>
            </a:r>
            <a:r>
              <a:rPr lang="es-ES" sz="1400" dirty="0">
                <a:solidFill>
                  <a:srgbClr val="FF0000"/>
                </a:solidFill>
              </a:rPr>
              <a:t>, peri es esta entre los dos, existes un índice que englobe estos dos.</a:t>
            </a: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DB94E6ED-8070-9B40-7058-DD03ED37BA0F}"/>
              </a:ext>
            </a:extLst>
          </p:cNvPr>
          <p:cNvSpPr txBox="1"/>
          <p:nvPr/>
        </p:nvSpPr>
        <p:spPr>
          <a:xfrm>
            <a:off x="7955726" y="1672334"/>
            <a:ext cx="405055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400" dirty="0">
                <a:solidFill>
                  <a:srgbClr val="FF0000"/>
                </a:solidFill>
              </a:rPr>
              <a:t>Los índices que se calculen y sean menores que los del </a:t>
            </a:r>
            <a:r>
              <a:rPr lang="es-ES" sz="1400" dirty="0" err="1">
                <a:solidFill>
                  <a:srgbClr val="FF0000"/>
                </a:solidFill>
              </a:rPr>
              <a:t>cladding</a:t>
            </a:r>
            <a:r>
              <a:rPr lang="es-ES" sz="1400" dirty="0">
                <a:solidFill>
                  <a:srgbClr val="FF0000"/>
                </a:solidFill>
              </a:rPr>
              <a:t>, son modos que no se propagan</a:t>
            </a:r>
          </a:p>
        </p:txBody>
      </p:sp>
    </p:spTree>
    <p:extLst>
      <p:ext uri="{BB962C8B-B14F-4D97-AF65-F5344CB8AC3E}">
        <p14:creationId xmlns:p14="http://schemas.microsoft.com/office/powerpoint/2010/main" val="5602346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80DA9C-35AF-A1D7-01E5-BFD9DEF155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471E1424-6C4B-2D9A-1352-30AFB987AD4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7822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#1 – Effective index of a waveguide</a:t>
            </a:r>
            <a:br>
              <a:rPr lang="es-ES" sz="2500" spc="-5" dirty="0">
                <a:latin typeface="+mj-lt"/>
                <a:cs typeface="Lucida Sans"/>
              </a:rPr>
            </a:br>
            <a:endParaRPr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9DCFD462-4416-65F8-5696-B0135B63276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293F5C1D-AFFF-4EA6-CA59-6503F34EBF5F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3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34F13AC1-9668-7266-DF5B-D7CE084AB044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 dirty="0"/>
              <a:t>LAB 0.1. MODESOLVER</a:t>
            </a:r>
          </a:p>
        </p:txBody>
      </p:sp>
      <p:sp>
        <p:nvSpPr>
          <p:cNvPr id="4" name="Marcador de texto 2">
            <a:extLst>
              <a:ext uri="{FF2B5EF4-FFF2-40B4-BE49-F238E27FC236}">
                <a16:creationId xmlns:a16="http://schemas.microsoft.com/office/drawing/2014/main" id="{AA9E72FF-B948-6B7A-8909-97C6BE95D6FB}"/>
              </a:ext>
            </a:extLst>
          </p:cNvPr>
          <p:cNvSpPr txBox="1">
            <a:spLocks/>
          </p:cNvSpPr>
          <p:nvPr/>
        </p:nvSpPr>
        <p:spPr>
          <a:xfrm>
            <a:off x="608012" y="1295400"/>
            <a:ext cx="11048999" cy="4958137"/>
          </a:xfrm>
          <a:prstGeom prst="rect">
            <a:avLst/>
          </a:prstGeom>
        </p:spPr>
        <p:txBody>
          <a:bodyPr>
            <a:normAutofit/>
          </a:bodyPr>
          <a:lstStyle>
            <a:lvl1pPr marL="0">
              <a:defRPr>
                <a:latin typeface="+mn-lt"/>
                <a:ea typeface="+mn-ea"/>
                <a:cs typeface="+mn-cs"/>
              </a:defRPr>
            </a:lvl1pPr>
            <a:lvl2pPr marL="457200">
              <a:defRPr>
                <a:latin typeface="+mn-lt"/>
                <a:ea typeface="+mn-ea"/>
                <a:cs typeface="+mn-cs"/>
              </a:defRPr>
            </a:lvl2pPr>
            <a:lvl3pPr marL="914400">
              <a:defRPr>
                <a:latin typeface="+mn-lt"/>
                <a:ea typeface="+mn-ea"/>
                <a:cs typeface="+mn-cs"/>
              </a:defRPr>
            </a:lvl3pPr>
            <a:lvl4pPr marL="1371600">
              <a:defRPr>
                <a:latin typeface="+mn-lt"/>
                <a:ea typeface="+mn-ea"/>
                <a:cs typeface="+mn-cs"/>
              </a:defRPr>
            </a:lvl4pPr>
            <a:lvl5pPr marL="1828800">
              <a:defRPr>
                <a:latin typeface="+mn-lt"/>
                <a:ea typeface="+mn-ea"/>
                <a:cs typeface="+mn-cs"/>
              </a:defRPr>
            </a:lvl5pPr>
            <a:lvl6pPr marL="2286000">
              <a:defRPr>
                <a:latin typeface="+mn-lt"/>
                <a:ea typeface="+mn-ea"/>
                <a:cs typeface="+mn-cs"/>
              </a:defRPr>
            </a:lvl6pPr>
            <a:lvl7pPr marL="2743200">
              <a:defRPr>
                <a:latin typeface="+mn-lt"/>
                <a:ea typeface="+mn-ea"/>
                <a:cs typeface="+mn-cs"/>
              </a:defRPr>
            </a:lvl7pPr>
            <a:lvl8pPr marL="3200400">
              <a:defRPr>
                <a:latin typeface="+mn-lt"/>
                <a:ea typeface="+mn-ea"/>
                <a:cs typeface="+mn-cs"/>
              </a:defRPr>
            </a:lvl8pPr>
            <a:lvl9pPr marL="3657600">
              <a:defRPr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000" b="1" dirty="0"/>
              <a:t>INSTRUCTOR: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/>
              <a:t>Present Python and </a:t>
            </a:r>
            <a:r>
              <a:rPr lang="en-US" sz="2000" dirty="0" err="1"/>
              <a:t>GDSFactory</a:t>
            </a:r>
            <a:r>
              <a:rPr lang="en-US" sz="2000" dirty="0"/>
              <a:t>: materials, output, results.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/>
              <a:t>Explain how to run a simulation for a particular cross-section. 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/>
              <a:t>Showcase how to change between shallow and deep waveguide.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/>
              <a:t>Describe how to change the wavelength and width for the waveguide analysis.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/>
              <a:t>Describe the outputs.</a:t>
            </a:r>
          </a:p>
          <a:p>
            <a:pPr marL="0" indent="0" algn="just">
              <a:buNone/>
            </a:pPr>
            <a:r>
              <a:rPr lang="en-US" sz="2000" b="1" dirty="0"/>
              <a:t>ALL EXAMPLE #1: </a:t>
            </a:r>
            <a:r>
              <a:rPr lang="en-US" sz="2000" dirty="0"/>
              <a:t>waveguide width 1.2 µm, deep </a:t>
            </a:r>
            <a:r>
              <a:rPr lang="en-US" sz="2000" dirty="0" err="1"/>
              <a:t>wvg</a:t>
            </a:r>
            <a:r>
              <a:rPr lang="en-US" sz="2000" dirty="0"/>
              <a:t>, wavelength start and end same 1.55 µm </a:t>
            </a:r>
            <a:r>
              <a:rPr lang="en-US" sz="2000" dirty="0">
                <a:sym typeface="Wingdings" pitchFamily="2" charset="2"/>
              </a:rPr>
              <a:t> all ”Run”</a:t>
            </a:r>
            <a:endParaRPr lang="en-US" sz="2000" dirty="0"/>
          </a:p>
          <a:p>
            <a:pPr marL="0" indent="0" algn="just">
              <a:buNone/>
            </a:pPr>
            <a:r>
              <a:rPr lang="en-US" sz="2000" b="1" dirty="0"/>
              <a:t>ALL: </a:t>
            </a:r>
            <a:r>
              <a:rPr lang="en-US" sz="2000" dirty="0"/>
              <a:t>Follow</a:t>
            </a:r>
            <a:r>
              <a:rPr lang="en-US" sz="2000" b="1" dirty="0"/>
              <a:t> </a:t>
            </a:r>
            <a:r>
              <a:rPr lang="en-US" sz="2000" dirty="0"/>
              <a:t>instructor, that will show how to 1) plot mode, 2) explore the results (neff …)</a:t>
            </a:r>
          </a:p>
          <a:p>
            <a:pPr algn="just"/>
            <a:endParaRPr lang="en-US" sz="2000" b="1" i="1" dirty="0"/>
          </a:p>
          <a:p>
            <a:pPr algn="just"/>
            <a:endParaRPr lang="en-US" sz="2000" kern="0" dirty="0">
              <a:solidFill>
                <a:sysClr val="windowText" lastClr="000000"/>
              </a:solidFill>
            </a:endParaRP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D0F8CF3B-B920-DBFC-F825-0C87B51EADA7}"/>
              </a:ext>
            </a:extLst>
          </p:cNvPr>
          <p:cNvSpPr txBox="1"/>
          <p:nvPr/>
        </p:nvSpPr>
        <p:spPr>
          <a:xfrm>
            <a:off x="609441" y="4860334"/>
            <a:ext cx="11199971" cy="1384995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Document all your results (neff, plot fields of different modes, comparison between different polarizations…)</a:t>
            </a:r>
          </a:p>
          <a:p>
            <a:pPr algn="just"/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Tenemos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4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modos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que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se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propagan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los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modos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0 y 2 son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modos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TE y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los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modos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1 y 3 son TM.</a:t>
            </a:r>
          </a:p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Se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puede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observar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los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plots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que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campo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los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modos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0 (TE) y 1 (TM)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estan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confinados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difernecia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los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modos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2 (TE) y 3 (TM).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305013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9E763E-BC09-F2D2-5B5F-BA40B78204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Comentario resultados obtenidos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88D9BAE8-7464-7A8D-1505-101CD955D4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43897" y="667952"/>
            <a:ext cx="3991341" cy="646331"/>
          </a:xfrm>
        </p:spPr>
        <p:txBody>
          <a:bodyPr/>
          <a:lstStyle/>
          <a:p>
            <a:pPr algn="just"/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Tenemos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4 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modos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que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se 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propagan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los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modos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0 y 2 son 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modos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TE y 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los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modos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1 y 3 son TM.</a:t>
            </a:r>
          </a:p>
          <a:p>
            <a:endParaRPr lang="es-ES" sz="1400" dirty="0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F050BDDD-47A2-CCA3-6DFC-17F74A4D8525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0.1. MODESOLVER</a:t>
            </a:r>
            <a:endParaRPr lang="es-ES" spc="-5" dirty="0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000B7220-4CEE-6025-7B44-69AD7E721AE8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4</a:t>
            </a:fld>
            <a:endParaRPr lang="es-ES"/>
          </a:p>
        </p:txBody>
      </p:sp>
      <p:pic>
        <p:nvPicPr>
          <p:cNvPr id="7" name="Imagen 6" descr="Interfaz de usuario gráfica, Texto&#10;&#10;El contenido generado por IA puede ser incorrecto.">
            <a:extLst>
              <a:ext uri="{FF2B5EF4-FFF2-40B4-BE49-F238E27FC236}">
                <a16:creationId xmlns:a16="http://schemas.microsoft.com/office/drawing/2014/main" id="{D0052FFC-265F-BD00-A1F5-79369E2964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1979" y="1451633"/>
            <a:ext cx="3448050" cy="1736563"/>
          </a:xfrm>
          <a:prstGeom prst="rect">
            <a:avLst/>
          </a:prstGeom>
        </p:spPr>
      </p:pic>
      <p:sp>
        <p:nvSpPr>
          <p:cNvPr id="8" name="Marcador de texto 2">
            <a:extLst>
              <a:ext uri="{FF2B5EF4-FFF2-40B4-BE49-F238E27FC236}">
                <a16:creationId xmlns:a16="http://schemas.microsoft.com/office/drawing/2014/main" id="{AE70B213-9763-4DA9-8BF3-C01D20E65E05}"/>
              </a:ext>
            </a:extLst>
          </p:cNvPr>
          <p:cNvSpPr txBox="1">
            <a:spLocks/>
          </p:cNvSpPr>
          <p:nvPr/>
        </p:nvSpPr>
        <p:spPr>
          <a:xfrm>
            <a:off x="5257800" y="548287"/>
            <a:ext cx="6553200" cy="129266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>
              <a:defRPr>
                <a:latin typeface="+mn-lt"/>
                <a:ea typeface="+mn-ea"/>
                <a:cs typeface="+mn-cs"/>
              </a:defRPr>
            </a:lvl1pPr>
            <a:lvl2pPr marL="457200">
              <a:defRPr>
                <a:latin typeface="+mn-lt"/>
                <a:ea typeface="+mn-ea"/>
                <a:cs typeface="+mn-cs"/>
              </a:defRPr>
            </a:lvl2pPr>
            <a:lvl3pPr marL="914400">
              <a:defRPr>
                <a:latin typeface="+mn-lt"/>
                <a:ea typeface="+mn-ea"/>
                <a:cs typeface="+mn-cs"/>
              </a:defRPr>
            </a:lvl3pPr>
            <a:lvl4pPr marL="1371600">
              <a:defRPr>
                <a:latin typeface="+mn-lt"/>
                <a:ea typeface="+mn-ea"/>
                <a:cs typeface="+mn-cs"/>
              </a:defRPr>
            </a:lvl4pPr>
            <a:lvl5pPr marL="1828800">
              <a:defRPr>
                <a:latin typeface="+mn-lt"/>
                <a:ea typeface="+mn-ea"/>
                <a:cs typeface="+mn-cs"/>
              </a:defRPr>
            </a:lvl5pPr>
            <a:lvl6pPr marL="2286000">
              <a:defRPr>
                <a:latin typeface="+mn-lt"/>
                <a:ea typeface="+mn-ea"/>
                <a:cs typeface="+mn-cs"/>
              </a:defRPr>
            </a:lvl6pPr>
            <a:lvl7pPr marL="2743200">
              <a:defRPr>
                <a:latin typeface="+mn-lt"/>
                <a:ea typeface="+mn-ea"/>
                <a:cs typeface="+mn-cs"/>
              </a:defRPr>
            </a:lvl7pPr>
            <a:lvl8pPr marL="3200400">
              <a:defRPr>
                <a:latin typeface="+mn-lt"/>
                <a:ea typeface="+mn-ea"/>
                <a:cs typeface="+mn-cs"/>
              </a:defRPr>
            </a:lvl8pPr>
            <a:lvl9pPr marL="3657600">
              <a:defRPr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Se 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puede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observar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en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los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plots 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que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campo 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en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los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modos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0 (TE) y 1 (TM) 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estan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confinados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a 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diferencia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los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modos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2 (TE) y 3 (TM) 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que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no 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estan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confinados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algn="just"/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s-ES" sz="1400" kern="0" dirty="0">
              <a:solidFill>
                <a:sysClr val="windowText" lastClr="000000"/>
              </a:solidFill>
            </a:endParaRPr>
          </a:p>
        </p:txBody>
      </p:sp>
      <p:pic>
        <p:nvPicPr>
          <p:cNvPr id="10" name="Imagen 9" descr="Histograma&#10;&#10;El contenido generado por IA puede ser incorrecto.">
            <a:extLst>
              <a:ext uri="{FF2B5EF4-FFF2-40B4-BE49-F238E27FC236}">
                <a16:creationId xmlns:a16="http://schemas.microsoft.com/office/drawing/2014/main" id="{B48F81A6-BE1C-E6C0-6D02-DBCAA7D1FF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90452" y="1147735"/>
            <a:ext cx="2210548" cy="1292662"/>
          </a:xfrm>
          <a:prstGeom prst="rect">
            <a:avLst/>
          </a:prstGeom>
        </p:spPr>
      </p:pic>
      <p:pic>
        <p:nvPicPr>
          <p:cNvPr id="12" name="Imagen 11" descr="Gráfico&#10;&#10;El contenido generado por IA puede ser incorrecto.">
            <a:extLst>
              <a:ext uri="{FF2B5EF4-FFF2-40B4-BE49-F238E27FC236}">
                <a16:creationId xmlns:a16="http://schemas.microsoft.com/office/drawing/2014/main" id="{60E818AF-B43A-E6B8-9A93-97D8F70C9F1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01000" y="1043326"/>
            <a:ext cx="2412289" cy="1292662"/>
          </a:xfrm>
          <a:prstGeom prst="rect">
            <a:avLst/>
          </a:prstGeom>
        </p:spPr>
      </p:pic>
      <p:pic>
        <p:nvPicPr>
          <p:cNvPr id="14" name="Imagen 13" descr="Imagen que contiene Gráfico&#10;&#10;El contenido generado por IA puede ser incorrecto.">
            <a:extLst>
              <a:ext uri="{FF2B5EF4-FFF2-40B4-BE49-F238E27FC236}">
                <a16:creationId xmlns:a16="http://schemas.microsoft.com/office/drawing/2014/main" id="{E9C2C45D-E055-687E-57E6-23AC6E64ADB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62855" y="2474155"/>
            <a:ext cx="2073912" cy="1116503"/>
          </a:xfrm>
          <a:prstGeom prst="rect">
            <a:avLst/>
          </a:prstGeom>
        </p:spPr>
      </p:pic>
      <p:pic>
        <p:nvPicPr>
          <p:cNvPr id="16" name="Imagen 15" descr="Imagen que contiene Gráfico&#10;&#10;El contenido generado por IA puede ser incorrecto.">
            <a:extLst>
              <a:ext uri="{FF2B5EF4-FFF2-40B4-BE49-F238E27FC236}">
                <a16:creationId xmlns:a16="http://schemas.microsoft.com/office/drawing/2014/main" id="{7F999343-8AEB-DF27-2556-89F7BEEFAD3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14369" y="2474155"/>
            <a:ext cx="2234687" cy="1126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36462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1656EC-E197-239C-60DD-C11F7BA4B4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5431EA70-9578-8BF1-5A05-77CDC26788B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7053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#2 – Wavelength behavior</a:t>
            </a:r>
            <a:br>
              <a:rPr lang="es-ES" sz="2500" spc="-5" dirty="0">
                <a:latin typeface="+mj-lt"/>
                <a:cs typeface="Lucida Sans"/>
              </a:rPr>
            </a:br>
            <a:r>
              <a:rPr lang="en-US" b="0" dirty="0"/>
              <a:t>Wavelength 1.5-1.6 µm (step 0.02 µm) – width 1.2 µm</a:t>
            </a:r>
            <a:endParaRPr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B6A02C28-9CC3-6E88-B695-04A48E5FDEA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FB7F118F-AD79-0ED0-CE53-A8EE4409B4F8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5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10846C9D-3FE3-8524-3349-96E1AD1712B3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 dirty="0"/>
              <a:t>LAB 0.1. MODESOLVER</a:t>
            </a: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CA5F0FDF-2A95-453B-4ECA-AEB637FF2694}"/>
              </a:ext>
            </a:extLst>
          </p:cNvPr>
          <p:cNvSpPr txBox="1"/>
          <p:nvPr/>
        </p:nvSpPr>
        <p:spPr>
          <a:xfrm>
            <a:off x="609441" y="4860334"/>
            <a:ext cx="11199971" cy="830997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Comment results (neff changes this way with wavelength, comparison between different waveguide cross-sections …)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En la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guía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onda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shallow se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propagan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los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4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modos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ya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que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su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indice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refracción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efectivo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es superior al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índice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del SiO2 ,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cambio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con la deep waveguide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los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modos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2 y 3 no se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propagan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porque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su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indice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efectivo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es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menor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que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indice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del cladding.</a:t>
            </a: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88F19863-7091-B8CA-F848-DBEA5CEEA027}"/>
              </a:ext>
            </a:extLst>
          </p:cNvPr>
          <p:cNvSpPr/>
          <p:nvPr/>
        </p:nvSpPr>
        <p:spPr>
          <a:xfrm>
            <a:off x="609441" y="1418373"/>
            <a:ext cx="5332571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3C4E7A47-20E2-3C27-D841-5A665642F6E2}"/>
              </a:ext>
            </a:extLst>
          </p:cNvPr>
          <p:cNvSpPr txBox="1"/>
          <p:nvPr/>
        </p:nvSpPr>
        <p:spPr>
          <a:xfrm>
            <a:off x="2285455" y="2671278"/>
            <a:ext cx="198054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shallow</a:t>
            </a:r>
            <a:r>
              <a:rPr lang="en-US" dirty="0"/>
              <a:t> waveguide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Paste plot here</a:t>
            </a: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21F754A5-65BC-14A3-5F55-75716FFA9027}"/>
              </a:ext>
            </a:extLst>
          </p:cNvPr>
          <p:cNvSpPr/>
          <p:nvPr/>
        </p:nvSpPr>
        <p:spPr>
          <a:xfrm>
            <a:off x="6476841" y="1418373"/>
            <a:ext cx="5332571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CD9C65D4-5494-F5CE-1094-CB0A32C33876}"/>
              </a:ext>
            </a:extLst>
          </p:cNvPr>
          <p:cNvSpPr txBox="1"/>
          <p:nvPr/>
        </p:nvSpPr>
        <p:spPr>
          <a:xfrm>
            <a:off x="8281672" y="2671278"/>
            <a:ext cx="1722908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deep</a:t>
            </a:r>
            <a:r>
              <a:rPr lang="en-US" dirty="0"/>
              <a:t> waveguide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Paste plot here</a:t>
            </a: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8BD4C233-B5D9-B6AA-93A8-CF2F130CFF9C}"/>
              </a:ext>
            </a:extLst>
          </p:cNvPr>
          <p:cNvSpPr txBox="1"/>
          <p:nvPr/>
        </p:nvSpPr>
        <p:spPr>
          <a:xfrm>
            <a:off x="642989" y="4402885"/>
            <a:ext cx="226978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slab </a:t>
            </a:r>
            <a:r>
              <a:rPr lang="en-US" dirty="0"/>
              <a:t>= 150nm</a:t>
            </a:r>
            <a:endParaRPr lang="es-ES" dirty="0"/>
          </a:p>
        </p:txBody>
      </p:sp>
      <p:pic>
        <p:nvPicPr>
          <p:cNvPr id="4" name="Imagen 3" descr="Gráfico, Gráfico de líneas&#10;&#10;El contenido generado por IA puede ser incorrecto.">
            <a:extLst>
              <a:ext uri="{FF2B5EF4-FFF2-40B4-BE49-F238E27FC236}">
                <a16:creationId xmlns:a16="http://schemas.microsoft.com/office/drawing/2014/main" id="{63260072-4336-C477-FDF6-3CF8F695AEC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2459" y="1645482"/>
            <a:ext cx="5126533" cy="2990478"/>
          </a:xfrm>
          <a:prstGeom prst="rect">
            <a:avLst/>
          </a:prstGeom>
        </p:spPr>
      </p:pic>
      <p:pic>
        <p:nvPicPr>
          <p:cNvPr id="10" name="Imagen 9" descr="Gráfico, Gráfico de líneas&#10;&#10;El contenido generado por IA puede ser incorrecto.">
            <a:extLst>
              <a:ext uri="{FF2B5EF4-FFF2-40B4-BE49-F238E27FC236}">
                <a16:creationId xmlns:a16="http://schemas.microsoft.com/office/drawing/2014/main" id="{8D8790E9-D5FA-BF84-1C13-E0C9F45B3C0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67316" y="1571789"/>
            <a:ext cx="5294562" cy="30884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235600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4E64652-1DB7-E694-D36B-985DB6D755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Comentarios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CD70538A-68E4-F5CA-1BBB-7CD552AAD55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90550" y="685800"/>
            <a:ext cx="5200650" cy="430887"/>
          </a:xfrm>
        </p:spPr>
        <p:txBody>
          <a:bodyPr/>
          <a:lstStyle/>
          <a:p>
            <a:pPr algn="just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Con la 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guia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shallow 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los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modos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0,y 3 son TE y 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los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modos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1 y 2 son 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hibridos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mayoritariamente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TE.</a:t>
            </a:r>
          </a:p>
          <a:p>
            <a:endParaRPr lang="es-ES" sz="1400" dirty="0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69A70AEF-A0E3-E117-BB88-746F97AD7C23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0.1. MODESOLVER</a:t>
            </a:r>
            <a:endParaRPr lang="es-ES" spc="-5" dirty="0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B196C78E-166D-AE50-D427-CD26140F5941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6</a:t>
            </a:fld>
            <a:endParaRPr lang="es-ES"/>
          </a:p>
        </p:txBody>
      </p:sp>
      <p:pic>
        <p:nvPicPr>
          <p:cNvPr id="7" name="Imagen 6" descr="Texto&#10;&#10;El contenido generado por IA puede ser incorrecto.">
            <a:extLst>
              <a:ext uri="{FF2B5EF4-FFF2-40B4-BE49-F238E27FC236}">
                <a16:creationId xmlns:a16="http://schemas.microsoft.com/office/drawing/2014/main" id="{D5E8ED96-2A1A-07AC-B725-88D2612B8C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0550" y="1224396"/>
            <a:ext cx="5104614" cy="2562476"/>
          </a:xfrm>
          <a:prstGeom prst="rect">
            <a:avLst/>
          </a:prstGeom>
        </p:spPr>
      </p:pic>
      <p:sp>
        <p:nvSpPr>
          <p:cNvPr id="8" name="Marcador de texto 2">
            <a:extLst>
              <a:ext uri="{FF2B5EF4-FFF2-40B4-BE49-F238E27FC236}">
                <a16:creationId xmlns:a16="http://schemas.microsoft.com/office/drawing/2014/main" id="{15A913E1-D1BA-3C75-C94A-64EE39100AAA}"/>
              </a:ext>
            </a:extLst>
          </p:cNvPr>
          <p:cNvSpPr txBox="1">
            <a:spLocks/>
          </p:cNvSpPr>
          <p:nvPr/>
        </p:nvSpPr>
        <p:spPr>
          <a:xfrm>
            <a:off x="6096000" y="685800"/>
            <a:ext cx="520065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>
              <a:defRPr>
                <a:latin typeface="+mn-lt"/>
                <a:ea typeface="+mn-ea"/>
                <a:cs typeface="+mn-cs"/>
              </a:defRPr>
            </a:lvl1pPr>
            <a:lvl2pPr marL="457200">
              <a:defRPr>
                <a:latin typeface="+mn-lt"/>
                <a:ea typeface="+mn-ea"/>
                <a:cs typeface="+mn-cs"/>
              </a:defRPr>
            </a:lvl2pPr>
            <a:lvl3pPr marL="914400">
              <a:defRPr>
                <a:latin typeface="+mn-lt"/>
                <a:ea typeface="+mn-ea"/>
                <a:cs typeface="+mn-cs"/>
              </a:defRPr>
            </a:lvl3pPr>
            <a:lvl4pPr marL="1371600">
              <a:defRPr>
                <a:latin typeface="+mn-lt"/>
                <a:ea typeface="+mn-ea"/>
                <a:cs typeface="+mn-cs"/>
              </a:defRPr>
            </a:lvl4pPr>
            <a:lvl5pPr marL="1828800">
              <a:defRPr>
                <a:latin typeface="+mn-lt"/>
                <a:ea typeface="+mn-ea"/>
                <a:cs typeface="+mn-cs"/>
              </a:defRPr>
            </a:lvl5pPr>
            <a:lvl6pPr marL="2286000">
              <a:defRPr>
                <a:latin typeface="+mn-lt"/>
                <a:ea typeface="+mn-ea"/>
                <a:cs typeface="+mn-cs"/>
              </a:defRPr>
            </a:lvl6pPr>
            <a:lvl7pPr marL="2743200">
              <a:defRPr>
                <a:latin typeface="+mn-lt"/>
                <a:ea typeface="+mn-ea"/>
                <a:cs typeface="+mn-cs"/>
              </a:defRPr>
            </a:lvl7pPr>
            <a:lvl8pPr marL="3200400">
              <a:defRPr>
                <a:latin typeface="+mn-lt"/>
                <a:ea typeface="+mn-ea"/>
                <a:cs typeface="+mn-cs"/>
              </a:defRPr>
            </a:lvl8pPr>
            <a:lvl9pPr marL="3657600">
              <a:defRPr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Con la 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guia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deep 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los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modos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0 y 2 son TE y 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1 y 3 son TM.</a:t>
            </a:r>
            <a:endParaRPr lang="es-ES" sz="1400" kern="0" dirty="0">
              <a:solidFill>
                <a:sysClr val="windowText" lastClr="000000"/>
              </a:solidFill>
            </a:endParaRPr>
          </a:p>
        </p:txBody>
      </p:sp>
      <p:pic>
        <p:nvPicPr>
          <p:cNvPr id="10" name="Imagen 9" descr="Texto&#10;&#10;El contenido generado por IA puede ser incorrecto.">
            <a:extLst>
              <a:ext uri="{FF2B5EF4-FFF2-40B4-BE49-F238E27FC236}">
                <a16:creationId xmlns:a16="http://schemas.microsoft.com/office/drawing/2014/main" id="{073763D2-9E89-0921-5D36-E754F3F4B5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1199514"/>
            <a:ext cx="4110409" cy="2573601"/>
          </a:xfrm>
          <a:prstGeom prst="rect">
            <a:avLst/>
          </a:prstGeom>
        </p:spPr>
      </p:pic>
      <p:sp>
        <p:nvSpPr>
          <p:cNvPr id="13" name="Marcador de texto 2">
            <a:extLst>
              <a:ext uri="{FF2B5EF4-FFF2-40B4-BE49-F238E27FC236}">
                <a16:creationId xmlns:a16="http://schemas.microsoft.com/office/drawing/2014/main" id="{067A748D-6BA9-60B0-DFF2-EC88EBA606B0}"/>
              </a:ext>
            </a:extLst>
          </p:cNvPr>
          <p:cNvSpPr txBox="1">
            <a:spLocks/>
          </p:cNvSpPr>
          <p:nvPr/>
        </p:nvSpPr>
        <p:spPr>
          <a:xfrm>
            <a:off x="609600" y="4114800"/>
            <a:ext cx="9982200" cy="150810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>
              <a:defRPr>
                <a:latin typeface="+mn-lt"/>
                <a:ea typeface="+mn-ea"/>
                <a:cs typeface="+mn-cs"/>
              </a:defRPr>
            </a:lvl1pPr>
            <a:lvl2pPr marL="457200">
              <a:defRPr>
                <a:latin typeface="+mn-lt"/>
                <a:ea typeface="+mn-ea"/>
                <a:cs typeface="+mn-cs"/>
              </a:defRPr>
            </a:lvl2pPr>
            <a:lvl3pPr marL="914400">
              <a:defRPr>
                <a:latin typeface="+mn-lt"/>
                <a:ea typeface="+mn-ea"/>
                <a:cs typeface="+mn-cs"/>
              </a:defRPr>
            </a:lvl3pPr>
            <a:lvl4pPr marL="1371600">
              <a:defRPr>
                <a:latin typeface="+mn-lt"/>
                <a:ea typeface="+mn-ea"/>
                <a:cs typeface="+mn-cs"/>
              </a:defRPr>
            </a:lvl4pPr>
            <a:lvl5pPr marL="1828800">
              <a:defRPr>
                <a:latin typeface="+mn-lt"/>
                <a:ea typeface="+mn-ea"/>
                <a:cs typeface="+mn-cs"/>
              </a:defRPr>
            </a:lvl5pPr>
            <a:lvl6pPr marL="2286000">
              <a:defRPr>
                <a:latin typeface="+mn-lt"/>
                <a:ea typeface="+mn-ea"/>
                <a:cs typeface="+mn-cs"/>
              </a:defRPr>
            </a:lvl6pPr>
            <a:lvl7pPr marL="2743200">
              <a:defRPr>
                <a:latin typeface="+mn-lt"/>
                <a:ea typeface="+mn-ea"/>
                <a:cs typeface="+mn-cs"/>
              </a:defRPr>
            </a:lvl7pPr>
            <a:lvl8pPr marL="3200400">
              <a:defRPr>
                <a:latin typeface="+mn-lt"/>
                <a:ea typeface="+mn-ea"/>
                <a:cs typeface="+mn-cs"/>
              </a:defRPr>
            </a:lvl8pPr>
            <a:lvl9pPr marL="3657600">
              <a:defRPr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El 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indice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efectivo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no es 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constante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y 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vamos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a 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tener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dependencia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con la 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longitud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onda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del 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dispositivo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</a:p>
          <a:p>
            <a:pPr algn="just"/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Respecto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al 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confinamiento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esta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guía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los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modos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no 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estan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muy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bien 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confinados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porque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temenos un bajo 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contraste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de indices entre 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nucleo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y 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cladding 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en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los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dos 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tipos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guia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. Se 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observa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que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indice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efectivo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los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modos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cada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una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de las 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guias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son 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valores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cercanos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al 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indice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del cladding (1.46). Como 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indice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efectivo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se 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aproxima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mas al del cladding 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que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al del core no 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tienen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un 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buen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confinamiento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endParaRPr lang="es-ES" sz="1400" kern="0" dirty="0">
              <a:solidFill>
                <a:sysClr val="windowText" lastClr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4423884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/>
          <p:nvPr/>
        </p:nvSpPr>
        <p:spPr>
          <a:xfrm>
            <a:off x="3945635" y="2636520"/>
            <a:ext cx="8246363" cy="15849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xfrm>
            <a:off x="4513326" y="3165729"/>
            <a:ext cx="2233295" cy="51371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3200" b="1" spc="-5" dirty="0">
                <a:solidFill>
                  <a:srgbClr val="FFFFFF"/>
                </a:solidFill>
                <a:latin typeface="Lucida Sans"/>
                <a:cs typeface="Lucida Sans"/>
              </a:rPr>
              <a:t>Thank</a:t>
            </a:r>
            <a:r>
              <a:rPr sz="3200" b="1" spc="-55" dirty="0">
                <a:solidFill>
                  <a:srgbClr val="FFFFFF"/>
                </a:solidFill>
                <a:latin typeface="Lucida Sans"/>
                <a:cs typeface="Lucida Sans"/>
              </a:rPr>
              <a:t> </a:t>
            </a:r>
            <a:r>
              <a:rPr sz="3200" b="1" dirty="0">
                <a:solidFill>
                  <a:srgbClr val="FFFFFF"/>
                </a:solidFill>
                <a:latin typeface="Lucida Sans"/>
                <a:cs typeface="Lucida Sans"/>
              </a:rPr>
              <a:t>you</a:t>
            </a:r>
            <a:endParaRPr sz="3200">
              <a:latin typeface="Lucida Sans"/>
              <a:cs typeface="Lucida Sans"/>
            </a:endParaRP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B052DA19-AD24-7D24-2AE9-51F8F5A7F5E0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7</a:t>
            </a:fld>
            <a:endParaRPr lang="es-E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00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B4F9E81278D9EF4B93FEF4C39323CCC6" ma:contentTypeVersion="9" ma:contentTypeDescription="Crear nuevo documento." ma:contentTypeScope="" ma:versionID="d3230f1af0420652ab6bb9cc9a7d79bf">
  <xsd:schema xmlns:xsd="http://www.w3.org/2001/XMLSchema" xmlns:xs="http://www.w3.org/2001/XMLSchema" xmlns:p="http://schemas.microsoft.com/office/2006/metadata/properties" xmlns:ns3="512ad970-e211-4551-badd-1c89141866b5" xmlns:ns4="39b51ea6-d3c9-44a5-b163-cfe7ba19310b" targetNamespace="http://schemas.microsoft.com/office/2006/metadata/properties" ma:root="true" ma:fieldsID="f33886ecf8d1a5727ad2dd4cfd712005" ns3:_="" ns4:_="">
    <xsd:import namespace="512ad970-e211-4551-badd-1c89141866b5"/>
    <xsd:import namespace="39b51ea6-d3c9-44a5-b163-cfe7ba19310b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SearchProperties" minOccurs="0"/>
                <xsd:element ref="ns3:_activity" minOccurs="0"/>
                <xsd:element ref="ns3:MediaServiceObjectDetectorVersions" minOccurs="0"/>
                <xsd:element ref="ns3:MediaServiceDateTake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12ad970-e211-4551-badd-1c89141866b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3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_activity" ma:index="14" nillable="true" ma:displayName="_activity" ma:hidden="true" ma:internalName="_activity">
      <xsd:simpleType>
        <xsd:restriction base="dms:Note"/>
      </xsd:simpleType>
    </xsd:element>
    <xsd:element name="MediaServiceObjectDetectorVersions" ma:index="15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6" nillable="true" ma:displayName="MediaServiceDateTaken" ma:hidden="true" ma:indexed="true" ma:internalName="MediaServiceDateTake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9b51ea6-d3c9-44a5-b163-cfe7ba19310b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Compartido con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Detalles de uso compartido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2" nillable="true" ma:displayName="Hash de la sugerencia para compartir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ni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512ad970-e211-4551-badd-1c89141866b5" xsi:nil="true"/>
  </documentManagement>
</p:properties>
</file>

<file path=customXml/itemProps1.xml><?xml version="1.0" encoding="utf-8"?>
<ds:datastoreItem xmlns:ds="http://schemas.openxmlformats.org/officeDocument/2006/customXml" ds:itemID="{74D191D3-7CDB-438B-95CA-9F90BBE48D1D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12ad970-e211-4551-badd-1c89141866b5"/>
    <ds:schemaRef ds:uri="39b51ea6-d3c9-44a5-b163-cfe7ba19310b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ED6A1A82-244F-49B2-AE87-9E0E62E4BD07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672770CA-3061-447B-B38E-0CE919B71026}">
  <ds:schemaRefs>
    <ds:schemaRef ds:uri="http://purl.org/dc/terms/"/>
    <ds:schemaRef ds:uri="http://schemas.openxmlformats.org/package/2006/metadata/core-properties"/>
    <ds:schemaRef ds:uri="512ad970-e211-4551-badd-1c89141866b5"/>
    <ds:schemaRef ds:uri="http://purl.org/dc/dcmitype/"/>
    <ds:schemaRef ds:uri="http://schemas.microsoft.com/office/2006/documentManagement/types"/>
    <ds:schemaRef ds:uri="http://schemas.microsoft.com/office/infopath/2007/PartnerControls"/>
    <ds:schemaRef ds:uri="39b51ea6-d3c9-44a5-b163-cfe7ba19310b"/>
    <ds:schemaRef ds:uri="http://schemas.microsoft.com/office/2006/metadata/properties"/>
    <ds:schemaRef ds:uri="http://www.w3.org/XML/1998/namespace"/>
    <ds:schemaRef ds:uri="http://purl.org/dc/elements/1.1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486</TotalTime>
  <Words>708</Words>
  <Application>Microsoft Office PowerPoint</Application>
  <PresentationFormat>Panorámica</PresentationFormat>
  <Paragraphs>81</Paragraphs>
  <Slides>7</Slides>
  <Notes>2</Notes>
  <HiddenSlides>0</HiddenSlides>
  <MMClips>0</MMClips>
  <ScaleCrop>false</ScaleCrop>
  <HeadingPairs>
    <vt:vector size="6" baseType="variant">
      <vt:variant>
        <vt:lpstr>Fuentes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7</vt:i4>
      </vt:variant>
    </vt:vector>
  </HeadingPairs>
  <TitlesOfParts>
    <vt:vector size="14" baseType="lpstr">
      <vt:lpstr>Aptos</vt:lpstr>
      <vt:lpstr>Arial</vt:lpstr>
      <vt:lpstr>Calibri</vt:lpstr>
      <vt:lpstr>Lucida Sans</vt:lpstr>
      <vt:lpstr>Times New Roman</vt:lpstr>
      <vt:lpstr>Wingdings</vt:lpstr>
      <vt:lpstr>Office Theme</vt:lpstr>
      <vt:lpstr>Presentación de PowerPoint</vt:lpstr>
      <vt:lpstr>Instructions General</vt:lpstr>
      <vt:lpstr>Learning outcome #1 – Effective index of a waveguide </vt:lpstr>
      <vt:lpstr>Comentario resultados obtenidos</vt:lpstr>
      <vt:lpstr>Learning outcome #2 – Wavelength behavior Wavelength 1.5-1.6 µm (step 0.02 µm) – width 1.2 µm</vt:lpstr>
      <vt:lpstr>Comentarios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Mª Ester Calataytud</dc:creator>
  <cp:lastModifiedBy>Maria Julve Benages</cp:lastModifiedBy>
  <cp:revision>8</cp:revision>
  <dcterms:created xsi:type="dcterms:W3CDTF">2025-01-27T02:46:57Z</dcterms:created>
  <dcterms:modified xsi:type="dcterms:W3CDTF">2026-02-16T09:31:31Z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2024-09-16T00:00:00Z</vt:filetime>
  </property>
  <property fmtid="{D5CDD505-2E9C-101B-9397-08002B2CF9AE}" pid="3" name="Creator">
    <vt:lpwstr>Microsoft® PowerPoint® 2016</vt:lpwstr>
  </property>
  <property fmtid="{D5CDD505-2E9C-101B-9397-08002B2CF9AE}" pid="4" name="LastSaved">
    <vt:filetime>2025-01-27T00:00:00Z</vt:filetime>
  </property>
  <property fmtid="{D5CDD505-2E9C-101B-9397-08002B2CF9AE}" pid="5" name="ContentTypeId">
    <vt:lpwstr>0x010100B4F9E81278D9EF4B93FEF4C39323CCC6</vt:lpwstr>
  </property>
</Properties>
</file>