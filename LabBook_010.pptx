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89" r:id="rId6"/>
    <p:sldId id="290" r:id="rId7"/>
    <p:sldId id="291" r:id="rId8"/>
    <p:sldId id="288" r:id="rId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102A6-F98F-48C7-9AF4-68940EB5B3D9}" v="4" dt="2026-02-03T12:19:17.9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2" d="100"/>
          <a:sy n="82" d="100"/>
        </p:scale>
        <p:origin x="1152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09/02/2026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664364" y="5549983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7" y="5549983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CAD427B-6097-910F-3ED4-DE28E90E11E0}"/>
              </a:ext>
            </a:extLst>
          </p:cNvPr>
          <p:cNvSpPr txBox="1"/>
          <p:nvPr/>
        </p:nvSpPr>
        <p:spPr>
          <a:xfrm>
            <a:off x="7901955" y="400263"/>
            <a:ext cx="410433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rgbClr val="FF0000"/>
                </a:solidFill>
              </a:rPr>
              <a:t>El índice efectivo es el índice que siente el modo al propagarse por la guía. Si solo esta confiando en el </a:t>
            </a:r>
            <a:r>
              <a:rPr lang="es-ES" sz="1400" dirty="0" err="1">
                <a:solidFill>
                  <a:srgbClr val="FF0000"/>
                </a:solidFill>
              </a:rPr>
              <a:t>core</a:t>
            </a:r>
            <a:r>
              <a:rPr lang="es-ES" sz="1400" dirty="0">
                <a:solidFill>
                  <a:srgbClr val="FF0000"/>
                </a:solidFill>
              </a:rPr>
              <a:t> </a:t>
            </a:r>
            <a:r>
              <a:rPr lang="es-ES" sz="1400" dirty="0" err="1">
                <a:solidFill>
                  <a:srgbClr val="FF0000"/>
                </a:solidFill>
              </a:rPr>
              <a:t>tndra</a:t>
            </a:r>
            <a:r>
              <a:rPr lang="es-ES" sz="1400" dirty="0">
                <a:solidFill>
                  <a:srgbClr val="FF0000"/>
                </a:solidFill>
              </a:rPr>
              <a:t> en el </a:t>
            </a:r>
            <a:r>
              <a:rPr lang="es-ES" sz="1400" dirty="0" err="1">
                <a:solidFill>
                  <a:srgbClr val="FF0000"/>
                </a:solidFill>
              </a:rPr>
              <a:t>core</a:t>
            </a:r>
            <a:r>
              <a:rPr lang="es-ES" sz="1400" dirty="0">
                <a:solidFill>
                  <a:srgbClr val="FF0000"/>
                </a:solidFill>
              </a:rPr>
              <a:t> y si esta full en la cubierta será el índice del </a:t>
            </a:r>
            <a:r>
              <a:rPr lang="es-ES" sz="1400" dirty="0" err="1">
                <a:solidFill>
                  <a:srgbClr val="FF0000"/>
                </a:solidFill>
              </a:rPr>
              <a:t>cladding</a:t>
            </a:r>
            <a:r>
              <a:rPr lang="es-ES" sz="1400" dirty="0">
                <a:solidFill>
                  <a:srgbClr val="FF0000"/>
                </a:solidFill>
              </a:rPr>
              <a:t>, peri es esta entre los dos, existes un índice que englobe estos dos.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B94E6ED-8070-9B40-7058-DD03ED37BA0F}"/>
              </a:ext>
            </a:extLst>
          </p:cNvPr>
          <p:cNvSpPr txBox="1"/>
          <p:nvPr/>
        </p:nvSpPr>
        <p:spPr>
          <a:xfrm>
            <a:off x="7955726" y="1672334"/>
            <a:ext cx="4050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rgbClr val="FF0000"/>
                </a:solidFill>
              </a:rPr>
              <a:t>Los índices que se calculen y sean menores que los del </a:t>
            </a:r>
            <a:r>
              <a:rPr lang="es-ES" sz="1400" dirty="0" err="1">
                <a:solidFill>
                  <a:srgbClr val="FF0000"/>
                </a:solidFill>
              </a:rPr>
              <a:t>cladding</a:t>
            </a:r>
            <a:r>
              <a:rPr lang="es-ES" sz="1400" dirty="0">
                <a:solidFill>
                  <a:srgbClr val="FF0000"/>
                </a:solidFill>
              </a:rPr>
              <a:t>, son modos que no se propagan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cambio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 deep waveguide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y 3 no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0,y 3 son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2 es TM. El modo 1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hibrido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y 2 son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 y 3 son TM.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5455" y="2671278"/>
            <a:ext cx="1980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281672" y="2671278"/>
            <a:ext cx="17229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3260072-4336-C477-FDF6-3CF8F695AE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59" y="1645482"/>
            <a:ext cx="5126533" cy="2990478"/>
          </a:xfrm>
          <a:prstGeom prst="rect">
            <a:avLst/>
          </a:prstGeom>
        </p:spPr>
      </p:pic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D8790E9-D5FA-BF84-1C13-E0C9F45B3C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7316" y="1571789"/>
            <a:ext cx="5294562" cy="308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12ad970-e211-4551-badd-1c89141866b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4F9E81278D9EF4B93FEF4C39323CCC6" ma:contentTypeVersion="9" ma:contentTypeDescription="Crear nuevo documento." ma:contentTypeScope="" ma:versionID="d3230f1af0420652ab6bb9cc9a7d79bf">
  <xsd:schema xmlns:xsd="http://www.w3.org/2001/XMLSchema" xmlns:xs="http://www.w3.org/2001/XMLSchema" xmlns:p="http://schemas.microsoft.com/office/2006/metadata/properties" xmlns:ns3="512ad970-e211-4551-badd-1c89141866b5" xmlns:ns4="39b51ea6-d3c9-44a5-b163-cfe7ba19310b" targetNamespace="http://schemas.microsoft.com/office/2006/metadata/properties" ma:root="true" ma:fieldsID="f33886ecf8d1a5727ad2dd4cfd712005" ns3:_="" ns4:_="">
    <xsd:import namespace="512ad970-e211-4551-badd-1c89141866b5"/>
    <xsd:import namespace="39b51ea6-d3c9-44a5-b163-cfe7ba19310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2ad970-e211-4551-badd-1c89141866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b51ea6-d3c9-44a5-b163-cfe7ba19310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2770CA-3061-447B-B38E-0CE919B71026}">
  <ds:schemaRefs>
    <ds:schemaRef ds:uri="http://purl.org/dc/terms/"/>
    <ds:schemaRef ds:uri="http://schemas.openxmlformats.org/package/2006/metadata/core-properties"/>
    <ds:schemaRef ds:uri="512ad970-e211-4551-badd-1c89141866b5"/>
    <ds:schemaRef ds:uri="http://purl.org/dc/dcmitype/"/>
    <ds:schemaRef ds:uri="http://schemas.microsoft.com/office/2006/documentManagement/types"/>
    <ds:schemaRef ds:uri="http://schemas.microsoft.com/office/infopath/2007/PartnerControls"/>
    <ds:schemaRef ds:uri="39b51ea6-d3c9-44a5-b163-cfe7ba19310b"/>
    <ds:schemaRef ds:uri="http://schemas.microsoft.com/office/2006/metadata/properties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ED6A1A82-244F-49B2-AE87-9E0E62E4BD0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4D191D3-7CDB-438B-95CA-9F90BBE48D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2ad970-e211-4551-badd-1c89141866b5"/>
    <ds:schemaRef ds:uri="39b51ea6-d3c9-44a5-b163-cfe7ba1931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405</TotalTime>
  <Words>457</Words>
  <Application>Microsoft Office PowerPoint</Application>
  <PresentationFormat>Panorámica</PresentationFormat>
  <Paragraphs>67</Paragraphs>
  <Slides>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#2 – Wavelength behavior Wavelength 1.5-1.6 µm (step 0.02 µm) – width 1.2 µm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Maria Julve Benages</cp:lastModifiedBy>
  <cp:revision>7</cp:revision>
  <dcterms:created xsi:type="dcterms:W3CDTF">2025-01-27T02:46:57Z</dcterms:created>
  <dcterms:modified xsi:type="dcterms:W3CDTF">2026-02-09T16:51:49Z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  <property fmtid="{D5CDD505-2E9C-101B-9397-08002B2CF9AE}" pid="5" name="ContentTypeId">
    <vt:lpwstr>0x010100B4F9E81278D9EF4B93FEF4C39323CCC6</vt:lpwstr>
  </property>
</Properties>
</file>